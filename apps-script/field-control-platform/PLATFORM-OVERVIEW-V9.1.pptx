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13E71"/>
                </a:solidFill>
                <a:latin typeface="Arial"/>
              </a:defRPr>
            </a:pPr>
            <a:r>
              <a:rPr sz="1200" b="0" i="0" u="none" strike="noStrike">
                <a:solidFill>
                  <a:srgbClr val="213E71"/>
                </a:solidFill>
                <a:latin typeface="Arial"/>
              </a:rPr>
              <a:t>مثال توضيحي: الالتزام بالزيارات حسب المنطقة (%)</a:t>
            </a:r>
          </a:p>
        </c:rich>
      </c:tx>
      <c:layout/>
      <c:overlay val="0"/>
    </c:title>
    <c:autoTitleDeleted val="0"/>
    <c:plotArea>
      <c:layout/>
      <c:barChart>
        <c:barDir val="col"/>
        <c:grouping val="clustered"/>
        <c:varyColors val="0"/>
        <c:ser>
          <c:idx val="0"/>
          <c:order val="0"/>
          <c:tx>
            <c:strRef>
              <c:f>Sheet1!$B$1</c:f>
              <c:strCache>
                <c:ptCount val="1"/>
                <c:pt idx="0">
                  <c:v>الالتزام بالزيارات</c:v>
                </c:pt>
              </c:strCache>
            </c:strRef>
          </c:tx>
          <c:spPr>
            <a:solidFill>
              <a:srgbClr val="009DDF"/>
            </a:solidFill>
            <a:effectLst/>
          </c:spPr>
          <c:invertIfNegative val="0"/>
          <c:dLbls>
            <c:numFmt formatCode="#,##0" sourceLinked="0"/>
            <c:txPr>
              <a:bodyPr/>
              <a:lstStyle/>
              <a:p>
                <a:pPr>
                  <a:defRPr b="0" i="0" strike="noStrike" sz="1000" u="none">
                    <a:solidFill>
                      <a:srgbClr val="213E71"/>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الوسطى</c:v>
                  </c:pt>
                  <c:pt idx="1">
                    <c:v>الغربية</c:v>
                  </c:pt>
                  <c:pt idx="2">
                    <c:v>الشرقية</c:v>
                  </c:pt>
                  <c:pt idx="3">
                    <c:v>الشمالية</c:v>
                  </c:pt>
                  <c:pt idx="4">
                    <c:v>الجنوبية</c:v>
                  </c:pt>
                </c:lvl>
              </c:multiLvlStrCache>
            </c:multiLvlStrRef>
          </c:cat>
          <c:val>
            <c:numRef>
              <c:f>Sheet1!$B$2:$B$6</c:f>
              <c:numCache>
                <c:formatCode>General</c:formatCode>
                <c:ptCount val="5"/>
                <c:pt idx="0">
                  <c:v>92</c:v>
                </c:pt>
                <c:pt idx="1">
                  <c:v>86</c:v>
                </c:pt>
                <c:pt idx="2">
                  <c:v>79</c:v>
                </c:pt>
                <c:pt idx="3">
                  <c:v>88</c:v>
                </c:pt>
                <c:pt idx="4">
                  <c:v>74</c:v>
                </c:pt>
              </c:numCache>
            </c:numRef>
          </c:val>
        </c:ser>
        <c:dLbls>
          <c:numFmt formatCode="#,##0" sourceLinked="0"/>
          <c:txPr>
            <a:bodyPr/>
            <a:lstStyle/>
            <a:p>
              <a:pPr>
                <a:defRPr b="0" i="0" strike="noStrike" sz="1000" u="none">
                  <a:solidFill>
                    <a:srgbClr val="213E7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788A"/>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3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78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عرض تعريفي بالمنصة: الأدوار، مسار الزيارة، الملاحظات، التصعيد، وخطوات البدء.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E71"/>
        </a:solidFill>
      </p:bgPr>
    </p:bg>
    <p:spTree>
      <p:nvGrpSpPr>
        <p:cNvPr id="1" name=""/>
        <p:cNvGrpSpPr/>
        <p:nvPr/>
      </p:nvGrpSpPr>
      <p:grpSpPr>
        <a:xfrm>
          <a:off x="0" y="0"/>
          <a:ext cx="0" cy="0"/>
          <a:chOff x="0" y="0"/>
          <a:chExt cx="0" cy="0"/>
        </a:xfrm>
      </p:grpSpPr>
      <p:sp>
        <p:nvSpPr>
          <p:cNvPr id="2" name="Shape 0"/>
          <p:cNvSpPr/>
          <p:nvPr/>
        </p:nvSpPr>
        <p:spPr>
          <a:xfrm>
            <a:off x="-2011680" y="3291840"/>
            <a:ext cx="6400800" cy="6400800"/>
          </a:xfrm>
          <a:prstGeom prst="ellipse">
            <a:avLst/>
          </a:prstGeom>
          <a:solidFill>
            <a:srgbClr val="1C5D9E"/>
          </a:solidFill>
          <a:ln w="12700">
            <a:solidFill>
              <a:srgbClr val="1C5D9E"/>
            </a:solidFill>
            <a:prstDash val="solid"/>
          </a:ln>
        </p:spPr>
      </p:sp>
      <p:sp>
        <p:nvSpPr>
          <p:cNvPr id="3" name="Shape 1"/>
          <p:cNvSpPr/>
          <p:nvPr/>
        </p:nvSpPr>
        <p:spPr>
          <a:xfrm>
            <a:off x="8961120" y="-2926080"/>
            <a:ext cx="5486400" cy="5486400"/>
          </a:xfrm>
          <a:prstGeom prst="ellipse">
            <a:avLst/>
          </a:prstGeom>
          <a:solidFill>
            <a:srgbClr val="2A4C86"/>
          </a:solidFill>
          <a:ln w="12700">
            <a:solidFill>
              <a:srgbClr val="2A4C86"/>
            </a:solidFill>
            <a:prstDash val="solid"/>
          </a:ln>
        </p:spPr>
      </p:sp>
      <p:sp>
        <p:nvSpPr>
          <p:cNvPr id="4" name="Text 2"/>
          <p:cNvSpPr txBox="1"/>
          <p:nvPr/>
        </p:nvSpPr>
        <p:spPr>
          <a:xfrm>
            <a:off x="822960" y="1280160"/>
            <a:ext cx="10545775" cy="365760"/>
          </a:xfrm>
          <a:prstGeom prst="rect">
            <a:avLst/>
          </a:prstGeom>
          <a:noFill/>
          <a:ln/>
        </p:spPr>
        <p:txBody>
          <a:bodyPr wrap="square" lIns="0" tIns="0" rIns="0" bIns="0" rtlCol="0" anchor="t"/>
          <a:lstStyle/>
          <a:p>
            <a:pPr rtl="1" algn="r" indent="0" marL="0">
              <a:buNone/>
            </a:pPr>
            <a:r>
              <a:rPr lang="ar-SA" altLang="en-US" sz="1400" dirty="0">
                <a:solidFill>
                  <a:srgbClr val="CADCFC"/>
                </a:solidFill>
                <a:latin typeface="Arial" pitchFamily="34" charset="0"/>
                <a:ea typeface="Arial" pitchFamily="34" charset="-122"/>
                <a:cs typeface="Arial" pitchFamily="34" charset="-120"/>
              </a:rPr>
              <a:t>شركة الدريس للخدمات البترولية والنقليات</a:t>
            </a:r>
            <a:endParaRPr lang="ar-SA" sz="1400" dirty="0"/>
          </a:p>
        </p:txBody>
      </p:sp>
      <p:sp>
        <p:nvSpPr>
          <p:cNvPr id="5" name="Text 3"/>
          <p:cNvSpPr txBox="1"/>
          <p:nvPr/>
        </p:nvSpPr>
        <p:spPr>
          <a:xfrm>
            <a:off x="822960" y="1737360"/>
            <a:ext cx="10545775" cy="1005840"/>
          </a:xfrm>
          <a:prstGeom prst="rect">
            <a:avLst/>
          </a:prstGeom>
          <a:noFill/>
          <a:ln/>
        </p:spPr>
        <p:txBody>
          <a:bodyPr wrap="square" lIns="0" tIns="0" rIns="0" bIns="0" rtlCol="0" anchor="ctr"/>
          <a:lstStyle/>
          <a:p>
            <a:pPr rtl="1" algn="r" indent="0" marL="0">
              <a:buNone/>
            </a:pPr>
            <a:r>
              <a:rPr lang="ar-SA" altLang="en-US" sz="4400" b="1" dirty="0">
                <a:solidFill>
                  <a:srgbClr val="FFFFFF"/>
                </a:solidFill>
                <a:latin typeface="Arial" pitchFamily="34" charset="0"/>
                <a:ea typeface="Arial" pitchFamily="34" charset="-122"/>
                <a:cs typeface="Arial" pitchFamily="34" charset="-120"/>
              </a:rPr>
              <a:t>منصة الرقابة والزيارات الميدانية</a:t>
            </a:r>
            <a:endParaRPr lang="ar-SA" sz="4400" dirty="0"/>
          </a:p>
        </p:txBody>
      </p:sp>
      <p:sp>
        <p:nvSpPr>
          <p:cNvPr id="6" name="Text 4"/>
          <p:cNvSpPr txBox="1"/>
          <p:nvPr/>
        </p:nvSpPr>
        <p:spPr>
          <a:xfrm>
            <a:off x="822960" y="2788920"/>
            <a:ext cx="10545775" cy="548640"/>
          </a:xfrm>
          <a:prstGeom prst="rect">
            <a:avLst/>
          </a:prstGeom>
          <a:noFill/>
          <a:ln/>
        </p:spPr>
        <p:txBody>
          <a:bodyPr wrap="square" lIns="0" tIns="0" rIns="0" bIns="0" rtlCol="0" anchor="ctr"/>
          <a:lstStyle/>
          <a:p>
            <a:pPr rtl="1" algn="r" indent="0" marL="0">
              <a:buNone/>
            </a:pPr>
            <a:r>
              <a:rPr lang="ar-SA" altLang="en-US" sz="2000" dirty="0">
                <a:solidFill>
                  <a:srgbClr val="CADCFC"/>
                </a:solidFill>
                <a:latin typeface="Arial" pitchFamily="34" charset="0"/>
                <a:ea typeface="Arial" pitchFamily="34" charset="-122"/>
                <a:cs typeface="Arial" pitchFamily="34" charset="-120"/>
              </a:rPr>
              <a:t>كيف تعمل العملية من إسناد المحطة حتى إغلاق الملاحظة</a:t>
            </a:r>
            <a:endParaRPr lang="ar-SA" sz="2000" dirty="0"/>
          </a:p>
        </p:txBody>
      </p:sp>
      <p:sp>
        <p:nvSpPr>
          <p:cNvPr id="7" name="Shape 5"/>
          <p:cNvSpPr/>
          <p:nvPr/>
        </p:nvSpPr>
        <p:spPr>
          <a:xfrm>
            <a:off x="9082735" y="3840480"/>
            <a:ext cx="2103120" cy="640080"/>
          </a:xfrm>
          <a:prstGeom prst="roundRect">
            <a:avLst>
              <a:gd name="adj" fmla="val 50000"/>
            </a:avLst>
          </a:prstGeom>
          <a:solidFill>
            <a:srgbClr val="2A4C86"/>
          </a:solidFill>
          <a:ln w="12700">
            <a:solidFill>
              <a:srgbClr val="3A62A0"/>
            </a:solidFill>
            <a:prstDash val="solid"/>
          </a:ln>
        </p:spPr>
      </p:sp>
      <p:pic>
        <p:nvPicPr>
          <p:cNvPr id="8" name="Image 0" descr="preencoded.png">    </p:cNvPr>
          <p:cNvPicPr>
            <a:picLocks noChangeAspect="1"/>
          </p:cNvPicPr>
          <p:nvPr/>
        </p:nvPicPr>
        <p:blipFill>
          <a:blip r:embed="rId1"/>
          <a:stretch>
            <a:fillRect/>
          </a:stretch>
        </p:blipFill>
        <p:spPr>
          <a:xfrm>
            <a:off x="10637215" y="3995928"/>
            <a:ext cx="329184" cy="329184"/>
          </a:xfrm>
          <a:prstGeom prst="rect">
            <a:avLst/>
          </a:prstGeom>
        </p:spPr>
      </p:pic>
      <p:sp>
        <p:nvSpPr>
          <p:cNvPr id="9" name="Text 6"/>
          <p:cNvSpPr txBox="1"/>
          <p:nvPr/>
        </p:nvSpPr>
        <p:spPr>
          <a:xfrm>
            <a:off x="9265615" y="3840480"/>
            <a:ext cx="1325880" cy="640080"/>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زيارات موثّقة</a:t>
            </a:r>
            <a:endParaRPr lang="ar-SA" sz="1300" dirty="0"/>
          </a:p>
        </p:txBody>
      </p:sp>
      <p:sp>
        <p:nvSpPr>
          <p:cNvPr id="10" name="Shape 7"/>
          <p:cNvSpPr/>
          <p:nvPr/>
        </p:nvSpPr>
        <p:spPr>
          <a:xfrm>
            <a:off x="6796735" y="3840480"/>
            <a:ext cx="2103120" cy="640080"/>
          </a:xfrm>
          <a:prstGeom prst="roundRect">
            <a:avLst>
              <a:gd name="adj" fmla="val 50000"/>
            </a:avLst>
          </a:prstGeom>
          <a:solidFill>
            <a:srgbClr val="2A4C86"/>
          </a:solidFill>
          <a:ln w="12700">
            <a:solidFill>
              <a:srgbClr val="3A62A0"/>
            </a:solidFill>
            <a:prstDash val="solid"/>
          </a:ln>
        </p:spPr>
      </p:sp>
      <p:pic>
        <p:nvPicPr>
          <p:cNvPr id="11" name="Image 1" descr="preencoded.png">    </p:cNvPr>
          <p:cNvPicPr>
            <a:picLocks noChangeAspect="1"/>
          </p:cNvPicPr>
          <p:nvPr/>
        </p:nvPicPr>
        <p:blipFill>
          <a:blip r:embed="rId2"/>
          <a:stretch>
            <a:fillRect/>
          </a:stretch>
        </p:blipFill>
        <p:spPr>
          <a:xfrm>
            <a:off x="8351215" y="3995928"/>
            <a:ext cx="329184" cy="329184"/>
          </a:xfrm>
          <a:prstGeom prst="rect">
            <a:avLst/>
          </a:prstGeom>
        </p:spPr>
      </p:pic>
      <p:sp>
        <p:nvSpPr>
          <p:cNvPr id="12" name="Text 8"/>
          <p:cNvSpPr txBox="1"/>
          <p:nvPr/>
        </p:nvSpPr>
        <p:spPr>
          <a:xfrm>
            <a:off x="6979615" y="3840480"/>
            <a:ext cx="1325880" cy="640080"/>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اعتماد واحد</a:t>
            </a:r>
            <a:endParaRPr lang="ar-SA" sz="1300" dirty="0"/>
          </a:p>
        </p:txBody>
      </p:sp>
      <p:sp>
        <p:nvSpPr>
          <p:cNvPr id="13" name="Shape 9"/>
          <p:cNvSpPr/>
          <p:nvPr/>
        </p:nvSpPr>
        <p:spPr>
          <a:xfrm>
            <a:off x="4510735" y="3840480"/>
            <a:ext cx="2103120" cy="640080"/>
          </a:xfrm>
          <a:prstGeom prst="roundRect">
            <a:avLst>
              <a:gd name="adj" fmla="val 50000"/>
            </a:avLst>
          </a:prstGeom>
          <a:solidFill>
            <a:srgbClr val="2A4C86"/>
          </a:solidFill>
          <a:ln w="12700">
            <a:solidFill>
              <a:srgbClr val="3A62A0"/>
            </a:solidFill>
            <a:prstDash val="solid"/>
          </a:ln>
        </p:spPr>
      </p:sp>
      <p:pic>
        <p:nvPicPr>
          <p:cNvPr id="14" name="Image 2" descr="preencoded.png">    </p:cNvPr>
          <p:cNvPicPr>
            <a:picLocks noChangeAspect="1"/>
          </p:cNvPicPr>
          <p:nvPr/>
        </p:nvPicPr>
        <p:blipFill>
          <a:blip r:embed="rId3"/>
          <a:stretch>
            <a:fillRect/>
          </a:stretch>
        </p:blipFill>
        <p:spPr>
          <a:xfrm>
            <a:off x="6065215" y="3995928"/>
            <a:ext cx="329184" cy="329184"/>
          </a:xfrm>
          <a:prstGeom prst="rect">
            <a:avLst/>
          </a:prstGeom>
        </p:spPr>
      </p:pic>
      <p:sp>
        <p:nvSpPr>
          <p:cNvPr id="15" name="Text 10"/>
          <p:cNvSpPr txBox="1"/>
          <p:nvPr/>
        </p:nvSpPr>
        <p:spPr>
          <a:xfrm>
            <a:off x="4693615" y="3840480"/>
            <a:ext cx="1325880" cy="640080"/>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ملاحظات بمهلة</a:t>
            </a:r>
            <a:endParaRPr lang="ar-SA" sz="1300" dirty="0"/>
          </a:p>
        </p:txBody>
      </p:sp>
      <p:sp>
        <p:nvSpPr>
          <p:cNvPr id="16" name="Shape 11"/>
          <p:cNvSpPr/>
          <p:nvPr/>
        </p:nvSpPr>
        <p:spPr>
          <a:xfrm>
            <a:off x="2224735" y="3840480"/>
            <a:ext cx="2103120" cy="640080"/>
          </a:xfrm>
          <a:prstGeom prst="roundRect">
            <a:avLst>
              <a:gd name="adj" fmla="val 50000"/>
            </a:avLst>
          </a:prstGeom>
          <a:solidFill>
            <a:srgbClr val="2A4C86"/>
          </a:solidFill>
          <a:ln w="12700">
            <a:solidFill>
              <a:srgbClr val="3A62A0"/>
            </a:solidFill>
            <a:prstDash val="solid"/>
          </a:ln>
        </p:spPr>
      </p:sp>
      <p:pic>
        <p:nvPicPr>
          <p:cNvPr id="17" name="Image 3" descr="preencoded.png">    </p:cNvPr>
          <p:cNvPicPr>
            <a:picLocks noChangeAspect="1"/>
          </p:cNvPicPr>
          <p:nvPr/>
        </p:nvPicPr>
        <p:blipFill>
          <a:blip r:embed="rId4"/>
          <a:stretch>
            <a:fillRect/>
          </a:stretch>
        </p:blipFill>
        <p:spPr>
          <a:xfrm>
            <a:off x="3779215" y="3995928"/>
            <a:ext cx="329184" cy="329184"/>
          </a:xfrm>
          <a:prstGeom prst="rect">
            <a:avLst/>
          </a:prstGeom>
        </p:spPr>
      </p:pic>
      <p:sp>
        <p:nvSpPr>
          <p:cNvPr id="18" name="Text 12"/>
          <p:cNvSpPr txBox="1"/>
          <p:nvPr/>
        </p:nvSpPr>
        <p:spPr>
          <a:xfrm>
            <a:off x="2407615" y="3840480"/>
            <a:ext cx="1325880" cy="640080"/>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مؤشرات أداء</a:t>
            </a:r>
            <a:endParaRPr lang="ar-SA" sz="1300" dirty="0"/>
          </a:p>
        </p:txBody>
      </p:sp>
      <p:sp>
        <p:nvSpPr>
          <p:cNvPr id="19" name="Text 13"/>
          <p:cNvSpPr txBox="1"/>
          <p:nvPr/>
        </p:nvSpPr>
        <p:spPr>
          <a:xfrm>
            <a:off x="822960" y="5852160"/>
            <a:ext cx="10545775" cy="365760"/>
          </a:xfrm>
          <a:prstGeom prst="rect">
            <a:avLst/>
          </a:prstGeom>
          <a:noFill/>
          <a:ln/>
        </p:spPr>
        <p:txBody>
          <a:bodyPr wrap="square" lIns="0" tIns="0" rIns="0" bIns="0" rtlCol="0" anchor="t"/>
          <a:lstStyle/>
          <a:p>
            <a:pPr rtl="1" algn="r" indent="0" marL="0">
              <a:buNone/>
            </a:pPr>
            <a:r>
              <a:rPr lang="ar-SA" altLang="en-US" sz="1200" dirty="0">
                <a:solidFill>
                  <a:srgbClr val="8FA8CC"/>
                </a:solidFill>
                <a:latin typeface="Arial" pitchFamily="34" charset="0"/>
                <a:ea typeface="Arial" pitchFamily="34" charset="-122"/>
                <a:cs typeface="Arial" pitchFamily="34" charset="-120"/>
              </a:rPr>
              <a:t>الإصدار 9.1 · عرض تعريفي للإدارة والمشرفين</a:t>
            </a:r>
            <a:endParaRPr lang="ar-SA"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من الورق إلى عملية منظّمة ومراقبة</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ما الذي تغيّره المنصة في عمل الرقابة الميدانية</a:t>
            </a:r>
            <a:endParaRPr lang="ar-SA" sz="1500" dirty="0"/>
          </a:p>
        </p:txBody>
      </p:sp>
      <p:sp>
        <p:nvSpPr>
          <p:cNvPr id="4" name="Shape 2"/>
          <p:cNvSpPr/>
          <p:nvPr/>
        </p:nvSpPr>
        <p:spPr>
          <a:xfrm>
            <a:off x="8031175" y="1783080"/>
            <a:ext cx="3429000" cy="2377440"/>
          </a:xfrm>
          <a:prstGeom prst="roundRect">
            <a:avLst>
              <a:gd name="adj" fmla="val 53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682935" y="1984248"/>
            <a:ext cx="548640" cy="548640"/>
          </a:xfrm>
          <a:prstGeom prst="ellipse">
            <a:avLst/>
          </a:prstGeom>
          <a:solidFill>
            <a:srgbClr val="EAF6FC"/>
          </a:solidFill>
          <a:ln w="12700">
            <a:solidFill>
              <a:srgbClr val="EAF6FC"/>
            </a:solidFill>
            <a:prstDash val="solid"/>
          </a:ln>
        </p:spPr>
      </p:sp>
      <p:pic>
        <p:nvPicPr>
          <p:cNvPr id="6" name="Image 0" descr="preencoded.png">    </p:cNvPr>
          <p:cNvPicPr>
            <a:picLocks noChangeAspect="1"/>
          </p:cNvPicPr>
          <p:nvPr/>
        </p:nvPicPr>
        <p:blipFill>
          <a:blip r:embed="rId1"/>
          <a:stretch>
            <a:fillRect/>
          </a:stretch>
        </p:blipFill>
        <p:spPr>
          <a:xfrm>
            <a:off x="10820095" y="2121408"/>
            <a:ext cx="274320" cy="274320"/>
          </a:xfrm>
          <a:prstGeom prst="rect">
            <a:avLst/>
          </a:prstGeom>
        </p:spPr>
      </p:pic>
      <p:sp>
        <p:nvSpPr>
          <p:cNvPr id="7" name="Text 4"/>
          <p:cNvSpPr txBox="1"/>
          <p:nvPr/>
        </p:nvSpPr>
        <p:spPr>
          <a:xfrm>
            <a:off x="8259775" y="1984248"/>
            <a:ext cx="22860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قبل: أوراق ورسائل</a:t>
            </a:r>
            <a:endParaRPr lang="ar-SA" sz="1500" dirty="0"/>
          </a:p>
        </p:txBody>
      </p:sp>
      <p:sp>
        <p:nvSpPr>
          <p:cNvPr id="8" name="Text 5"/>
          <p:cNvSpPr txBox="1"/>
          <p:nvPr/>
        </p:nvSpPr>
        <p:spPr>
          <a:xfrm>
            <a:off x="8259775" y="2651760"/>
            <a:ext cx="2971800" cy="137160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زيارة تُكتب على ورقة، صور في الجوال، اعتماد بالهاتف، وملاحظات تضيع بلا مهلة.</a:t>
            </a:r>
            <a:endParaRPr lang="ar-SA" sz="1200" dirty="0"/>
          </a:p>
        </p:txBody>
      </p:sp>
      <p:sp>
        <p:nvSpPr>
          <p:cNvPr id="9" name="Shape 6"/>
          <p:cNvSpPr/>
          <p:nvPr/>
        </p:nvSpPr>
        <p:spPr>
          <a:xfrm>
            <a:off x="4419295" y="1783080"/>
            <a:ext cx="3429000" cy="2377440"/>
          </a:xfrm>
          <a:prstGeom prst="roundRect">
            <a:avLst>
              <a:gd name="adj" fmla="val 53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0" name="Shape 7"/>
          <p:cNvSpPr/>
          <p:nvPr/>
        </p:nvSpPr>
        <p:spPr>
          <a:xfrm>
            <a:off x="7071055" y="1984248"/>
            <a:ext cx="548640" cy="548640"/>
          </a:xfrm>
          <a:prstGeom prst="ellipse">
            <a:avLst/>
          </a:prstGeom>
          <a:solidFill>
            <a:srgbClr val="EAF6FC"/>
          </a:solidFill>
          <a:ln w="12700">
            <a:solidFill>
              <a:srgbClr val="EAF6FC"/>
            </a:solidFill>
            <a:prstDash val="solid"/>
          </a:ln>
        </p:spPr>
      </p:sp>
      <p:pic>
        <p:nvPicPr>
          <p:cNvPr id="11" name="Image 1" descr="preencoded.png">    </p:cNvPr>
          <p:cNvPicPr>
            <a:picLocks noChangeAspect="1"/>
          </p:cNvPicPr>
          <p:nvPr/>
        </p:nvPicPr>
        <p:blipFill>
          <a:blip r:embed="rId2"/>
          <a:stretch>
            <a:fillRect/>
          </a:stretch>
        </p:blipFill>
        <p:spPr>
          <a:xfrm>
            <a:off x="7208215" y="2121408"/>
            <a:ext cx="274320" cy="274320"/>
          </a:xfrm>
          <a:prstGeom prst="rect">
            <a:avLst/>
          </a:prstGeom>
        </p:spPr>
      </p:pic>
      <p:sp>
        <p:nvSpPr>
          <p:cNvPr id="12" name="Text 8"/>
          <p:cNvSpPr txBox="1"/>
          <p:nvPr/>
        </p:nvSpPr>
        <p:spPr>
          <a:xfrm>
            <a:off x="4647895" y="1984248"/>
            <a:ext cx="22860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الآن: كل شيء في مكان واحد</a:t>
            </a:r>
            <a:endParaRPr lang="ar-SA" sz="1500" dirty="0"/>
          </a:p>
        </p:txBody>
      </p:sp>
      <p:sp>
        <p:nvSpPr>
          <p:cNvPr id="13" name="Text 9"/>
          <p:cNvSpPr txBox="1"/>
          <p:nvPr/>
        </p:nvSpPr>
        <p:spPr>
          <a:xfrm>
            <a:off x="4647895" y="2651760"/>
            <a:ext cx="2971800" cy="137160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قائمة تحقق على الجوال، صور مربوطة بالبند، اعتماد بضغطة، ومتابعة حتى الإغلاق.</a:t>
            </a:r>
            <a:endParaRPr lang="ar-SA" sz="1200" dirty="0"/>
          </a:p>
        </p:txBody>
      </p:sp>
      <p:sp>
        <p:nvSpPr>
          <p:cNvPr id="14" name="Shape 10"/>
          <p:cNvSpPr/>
          <p:nvPr/>
        </p:nvSpPr>
        <p:spPr>
          <a:xfrm>
            <a:off x="807415" y="1783080"/>
            <a:ext cx="3429000" cy="2377440"/>
          </a:xfrm>
          <a:prstGeom prst="roundRect">
            <a:avLst>
              <a:gd name="adj" fmla="val 53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5" name="Shape 11"/>
          <p:cNvSpPr/>
          <p:nvPr/>
        </p:nvSpPr>
        <p:spPr>
          <a:xfrm>
            <a:off x="3459175" y="1984248"/>
            <a:ext cx="548640" cy="548640"/>
          </a:xfrm>
          <a:prstGeom prst="ellipse">
            <a:avLst/>
          </a:prstGeom>
          <a:solidFill>
            <a:srgbClr val="EAF6FC"/>
          </a:solidFill>
          <a:ln w="12700">
            <a:solidFill>
              <a:srgbClr val="EAF6FC"/>
            </a:solidFill>
            <a:prstDash val="solid"/>
          </a:ln>
        </p:spPr>
      </p:sp>
      <p:pic>
        <p:nvPicPr>
          <p:cNvPr id="16" name="Image 2" descr="preencoded.png">    </p:cNvPr>
          <p:cNvPicPr>
            <a:picLocks noChangeAspect="1"/>
          </p:cNvPicPr>
          <p:nvPr/>
        </p:nvPicPr>
        <p:blipFill>
          <a:blip r:embed="rId3"/>
          <a:stretch>
            <a:fillRect/>
          </a:stretch>
        </p:blipFill>
        <p:spPr>
          <a:xfrm>
            <a:off x="3596335" y="2121408"/>
            <a:ext cx="274320" cy="274320"/>
          </a:xfrm>
          <a:prstGeom prst="rect">
            <a:avLst/>
          </a:prstGeom>
        </p:spPr>
      </p:pic>
      <p:sp>
        <p:nvSpPr>
          <p:cNvPr id="17" name="Text 12"/>
          <p:cNvSpPr txBox="1"/>
          <p:nvPr/>
        </p:nvSpPr>
        <p:spPr>
          <a:xfrm>
            <a:off x="1036015" y="1984248"/>
            <a:ext cx="22860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نتيجة: رؤية كاملة</a:t>
            </a:r>
            <a:endParaRPr lang="ar-SA" sz="1500" dirty="0"/>
          </a:p>
        </p:txBody>
      </p:sp>
      <p:sp>
        <p:nvSpPr>
          <p:cNvPr id="18" name="Text 13"/>
          <p:cNvSpPr txBox="1"/>
          <p:nvPr/>
        </p:nvSpPr>
        <p:spPr>
          <a:xfrm>
            <a:off x="1036015" y="2651760"/>
            <a:ext cx="2971800" cy="137160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لوحة قيادة حيّة لكل مستوى إداري: ما تم، ما تأخر، ومن يحتاج تدخلًا.</a:t>
            </a:r>
            <a:endParaRPr lang="ar-SA" sz="1200" dirty="0"/>
          </a:p>
        </p:txBody>
      </p:sp>
      <p:sp>
        <p:nvSpPr>
          <p:cNvPr id="19" name="Shape 14"/>
          <p:cNvSpPr/>
          <p:nvPr/>
        </p:nvSpPr>
        <p:spPr>
          <a:xfrm>
            <a:off x="8031175" y="4480560"/>
            <a:ext cx="3429000" cy="1554480"/>
          </a:xfrm>
          <a:prstGeom prst="roundRect">
            <a:avLst>
              <a:gd name="adj" fmla="val 8235"/>
            </a:avLst>
          </a:prstGeom>
          <a:solidFill>
            <a:srgbClr val="EAF6FC"/>
          </a:solidFill>
          <a:ln w="12700">
            <a:solidFill>
              <a:srgbClr val="EAF6FC"/>
            </a:solidFill>
            <a:prstDash val="solid"/>
          </a:ln>
        </p:spPr>
      </p:sp>
      <p:sp>
        <p:nvSpPr>
          <p:cNvPr id="20" name="Text 15"/>
          <p:cNvSpPr txBox="1"/>
          <p:nvPr/>
        </p:nvSpPr>
        <p:spPr>
          <a:xfrm>
            <a:off x="8259775" y="4572000"/>
            <a:ext cx="2971800" cy="731520"/>
          </a:xfrm>
          <a:prstGeom prst="rect">
            <a:avLst/>
          </a:prstGeom>
          <a:noFill/>
          <a:ln/>
        </p:spPr>
        <p:txBody>
          <a:bodyPr wrap="square" lIns="0" tIns="0" rIns="0" bIns="0" rtlCol="0" anchor="ctr"/>
          <a:lstStyle/>
          <a:p>
            <a:pPr rtl="1" algn="r" indent="0" marL="0">
              <a:buNone/>
            </a:pPr>
            <a:r>
              <a:rPr lang="ar-SA" altLang="en-US" sz="4000" b="1" dirty="0">
                <a:solidFill>
                  <a:srgbClr val="0089C4"/>
                </a:solidFill>
                <a:latin typeface="Arial" pitchFamily="34" charset="0"/>
                <a:ea typeface="Arial" pitchFamily="34" charset="-122"/>
                <a:cs typeface="Arial" pitchFamily="34" charset="-120"/>
              </a:rPr>
              <a:t>١٠٠٪</a:t>
            </a:r>
            <a:endParaRPr lang="ar-SA" sz="4000" dirty="0"/>
          </a:p>
        </p:txBody>
      </p:sp>
      <p:sp>
        <p:nvSpPr>
          <p:cNvPr id="21" name="Text 16"/>
          <p:cNvSpPr txBox="1"/>
          <p:nvPr/>
        </p:nvSpPr>
        <p:spPr>
          <a:xfrm>
            <a:off x="8259775" y="5303520"/>
            <a:ext cx="2971800" cy="548640"/>
          </a:xfrm>
          <a:prstGeom prst="rect">
            <a:avLst/>
          </a:prstGeom>
          <a:noFill/>
          <a:ln/>
        </p:spPr>
        <p:txBody>
          <a:bodyPr wrap="square" lIns="0" tIns="0" rIns="0" bIns="0" rtlCol="0" anchor="t"/>
          <a:lstStyle/>
          <a:p>
            <a:pPr rtl="1" algn="r" indent="0" marL="0">
              <a:buNone/>
            </a:pPr>
            <a:r>
              <a:rPr lang="ar-SA" altLang="en-US" sz="1200" dirty="0">
                <a:solidFill>
                  <a:srgbClr val="213E71"/>
                </a:solidFill>
                <a:latin typeface="Arial" pitchFamily="34" charset="0"/>
                <a:ea typeface="Arial" pitchFamily="34" charset="-122"/>
                <a:cs typeface="Arial" pitchFamily="34" charset="-120"/>
              </a:rPr>
              <a:t>من الزيارات موثّقة بالموقع والصور</a:t>
            </a:r>
            <a:endParaRPr lang="ar-SA" sz="1200" dirty="0"/>
          </a:p>
        </p:txBody>
      </p:sp>
      <p:sp>
        <p:nvSpPr>
          <p:cNvPr id="22" name="Shape 17"/>
          <p:cNvSpPr/>
          <p:nvPr/>
        </p:nvSpPr>
        <p:spPr>
          <a:xfrm>
            <a:off x="4419295" y="4480560"/>
            <a:ext cx="3429000" cy="1554480"/>
          </a:xfrm>
          <a:prstGeom prst="roundRect">
            <a:avLst>
              <a:gd name="adj" fmla="val 8235"/>
            </a:avLst>
          </a:prstGeom>
          <a:solidFill>
            <a:srgbClr val="EAF6FC"/>
          </a:solidFill>
          <a:ln w="12700">
            <a:solidFill>
              <a:srgbClr val="EAF6FC"/>
            </a:solidFill>
            <a:prstDash val="solid"/>
          </a:ln>
        </p:spPr>
      </p:sp>
      <p:sp>
        <p:nvSpPr>
          <p:cNvPr id="23" name="Text 18"/>
          <p:cNvSpPr txBox="1"/>
          <p:nvPr/>
        </p:nvSpPr>
        <p:spPr>
          <a:xfrm>
            <a:off x="4647895" y="4572000"/>
            <a:ext cx="2971800" cy="731520"/>
          </a:xfrm>
          <a:prstGeom prst="rect">
            <a:avLst/>
          </a:prstGeom>
          <a:noFill/>
          <a:ln/>
        </p:spPr>
        <p:txBody>
          <a:bodyPr wrap="square" lIns="0" tIns="0" rIns="0" bIns="0" rtlCol="0" anchor="ctr"/>
          <a:lstStyle/>
          <a:p>
            <a:pPr rtl="1" algn="r" indent="0" marL="0">
              <a:buNone/>
            </a:pPr>
            <a:r>
              <a:rPr lang="ar-SA" altLang="en-US" sz="4000" b="1" dirty="0">
                <a:solidFill>
                  <a:srgbClr val="0089C4"/>
                </a:solidFill>
                <a:latin typeface="Arial" pitchFamily="34" charset="0"/>
                <a:ea typeface="Arial" pitchFamily="34" charset="-122"/>
                <a:cs typeface="Arial" pitchFamily="34" charset="-120"/>
              </a:rPr>
              <a:t>١</a:t>
            </a:r>
            <a:endParaRPr lang="ar-SA" sz="4000" dirty="0"/>
          </a:p>
        </p:txBody>
      </p:sp>
      <p:sp>
        <p:nvSpPr>
          <p:cNvPr id="24" name="Text 19"/>
          <p:cNvSpPr txBox="1"/>
          <p:nvPr/>
        </p:nvSpPr>
        <p:spPr>
          <a:xfrm>
            <a:off x="4647895" y="5303520"/>
            <a:ext cx="2971800" cy="548640"/>
          </a:xfrm>
          <a:prstGeom prst="rect">
            <a:avLst/>
          </a:prstGeom>
          <a:noFill/>
          <a:ln/>
        </p:spPr>
        <p:txBody>
          <a:bodyPr wrap="square" lIns="0" tIns="0" rIns="0" bIns="0" rtlCol="0" anchor="t"/>
          <a:lstStyle/>
          <a:p>
            <a:pPr rtl="1" algn="r" indent="0" marL="0">
              <a:buNone/>
            </a:pPr>
            <a:r>
              <a:rPr lang="ar-SA" altLang="en-US" sz="1200" dirty="0">
                <a:solidFill>
                  <a:srgbClr val="213E71"/>
                </a:solidFill>
                <a:latin typeface="Arial" pitchFamily="34" charset="0"/>
                <a:ea typeface="Arial" pitchFamily="34" charset="-122"/>
                <a:cs typeface="Arial" pitchFamily="34" charset="-120"/>
              </a:rPr>
              <a:t>جهة اعتماد واحدة: مساعد الإشراف</a:t>
            </a:r>
            <a:endParaRPr lang="ar-SA" sz="1200" dirty="0"/>
          </a:p>
        </p:txBody>
      </p:sp>
      <p:sp>
        <p:nvSpPr>
          <p:cNvPr id="25" name="Shape 20"/>
          <p:cNvSpPr/>
          <p:nvPr/>
        </p:nvSpPr>
        <p:spPr>
          <a:xfrm>
            <a:off x="807415" y="4480560"/>
            <a:ext cx="3429000" cy="1554480"/>
          </a:xfrm>
          <a:prstGeom prst="roundRect">
            <a:avLst>
              <a:gd name="adj" fmla="val 8235"/>
            </a:avLst>
          </a:prstGeom>
          <a:solidFill>
            <a:srgbClr val="EAF6FC"/>
          </a:solidFill>
          <a:ln w="12700">
            <a:solidFill>
              <a:srgbClr val="EAF6FC"/>
            </a:solidFill>
            <a:prstDash val="solid"/>
          </a:ln>
        </p:spPr>
      </p:sp>
      <p:sp>
        <p:nvSpPr>
          <p:cNvPr id="26" name="Text 21"/>
          <p:cNvSpPr txBox="1"/>
          <p:nvPr/>
        </p:nvSpPr>
        <p:spPr>
          <a:xfrm>
            <a:off x="1036015" y="4572000"/>
            <a:ext cx="2971800" cy="731520"/>
          </a:xfrm>
          <a:prstGeom prst="rect">
            <a:avLst/>
          </a:prstGeom>
          <a:noFill/>
          <a:ln/>
        </p:spPr>
        <p:txBody>
          <a:bodyPr wrap="square" lIns="0" tIns="0" rIns="0" bIns="0" rtlCol="0" anchor="ctr"/>
          <a:lstStyle/>
          <a:p>
            <a:pPr rtl="1" algn="r" indent="0" marL="0">
              <a:buNone/>
            </a:pPr>
            <a:r>
              <a:rPr lang="ar-SA" altLang="en-US" sz="4000" b="1" dirty="0">
                <a:solidFill>
                  <a:srgbClr val="0089C4"/>
                </a:solidFill>
                <a:latin typeface="Arial" pitchFamily="34" charset="0"/>
                <a:ea typeface="Arial" pitchFamily="34" charset="-122"/>
                <a:cs typeface="Arial" pitchFamily="34" charset="-120"/>
              </a:rPr>
              <a:t>٣</a:t>
            </a:r>
            <a:endParaRPr lang="ar-SA" sz="4000" dirty="0"/>
          </a:p>
        </p:txBody>
      </p:sp>
      <p:sp>
        <p:nvSpPr>
          <p:cNvPr id="27" name="Text 22"/>
          <p:cNvSpPr txBox="1"/>
          <p:nvPr/>
        </p:nvSpPr>
        <p:spPr>
          <a:xfrm>
            <a:off x="1036015" y="5303520"/>
            <a:ext cx="2971800" cy="548640"/>
          </a:xfrm>
          <a:prstGeom prst="rect">
            <a:avLst/>
          </a:prstGeom>
          <a:noFill/>
          <a:ln/>
        </p:spPr>
        <p:txBody>
          <a:bodyPr wrap="square" lIns="0" tIns="0" rIns="0" bIns="0" rtlCol="0" anchor="t"/>
          <a:lstStyle/>
          <a:p>
            <a:pPr rtl="1" algn="r" indent="0" marL="0">
              <a:buNone/>
            </a:pPr>
            <a:r>
              <a:rPr lang="ar-SA" altLang="en-US" sz="1200" dirty="0">
                <a:solidFill>
                  <a:srgbClr val="213E71"/>
                </a:solidFill>
                <a:latin typeface="Arial" pitchFamily="34" charset="0"/>
                <a:ea typeface="Arial" pitchFamily="34" charset="-122"/>
                <a:cs typeface="Arial" pitchFamily="34" charset="-120"/>
              </a:rPr>
              <a:t>مستويات تصعيد تلقائي للملاحظات المتأخرة</a:t>
            </a:r>
            <a:endParaRPr lang="ar-SA" sz="1200" dirty="0"/>
          </a:p>
        </p:txBody>
      </p:sp>
      <p:sp>
        <p:nvSpPr>
          <p:cNvPr id="28" name="Text 23"/>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29" name="Text 24"/>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2</a:t>
            </a:r>
            <a:endParaRPr lang="ar-SA"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الأدوار والتسلسل الإداري</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يحدده مدير النظام من سجل كل مستخدم — وكل مستوى يرى فريقه فقط</a:t>
            </a:r>
            <a:endParaRPr lang="ar-SA" sz="1500" dirty="0"/>
          </a:p>
        </p:txBody>
      </p:sp>
      <p:sp>
        <p:nvSpPr>
          <p:cNvPr id="4" name="Shape 2"/>
          <p:cNvSpPr/>
          <p:nvPr/>
        </p:nvSpPr>
        <p:spPr>
          <a:xfrm>
            <a:off x="9539935" y="1828800"/>
            <a:ext cx="2103120" cy="2926080"/>
          </a:xfrm>
          <a:prstGeom prst="roundRect">
            <a:avLst>
              <a:gd name="adj" fmla="val 6087"/>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225735" y="2057400"/>
            <a:ext cx="731520" cy="731520"/>
          </a:xfrm>
          <a:prstGeom prst="ellipse">
            <a:avLst/>
          </a:prstGeom>
          <a:solidFill>
            <a:srgbClr val="EAF6FC"/>
          </a:solidFill>
          <a:ln w="12700">
            <a:solidFill>
              <a:srgbClr val="EAF6FC"/>
            </a:solidFill>
            <a:prstDash val="solid"/>
          </a:ln>
        </p:spPr>
      </p:sp>
      <p:pic>
        <p:nvPicPr>
          <p:cNvPr id="6" name="Image 0" descr="preencoded.png">    </p:cNvPr>
          <p:cNvPicPr>
            <a:picLocks noChangeAspect="1"/>
          </p:cNvPicPr>
          <p:nvPr/>
        </p:nvPicPr>
        <p:blipFill>
          <a:blip r:embed="rId1"/>
          <a:stretch>
            <a:fillRect/>
          </a:stretch>
        </p:blipFill>
        <p:spPr>
          <a:xfrm>
            <a:off x="10408615" y="2240280"/>
            <a:ext cx="365760" cy="365760"/>
          </a:xfrm>
          <a:prstGeom prst="rect">
            <a:avLst/>
          </a:prstGeom>
        </p:spPr>
      </p:pic>
      <p:sp>
        <p:nvSpPr>
          <p:cNvPr id="7" name="Text 4"/>
          <p:cNvSpPr txBox="1"/>
          <p:nvPr/>
        </p:nvSpPr>
        <p:spPr>
          <a:xfrm>
            <a:off x="9677095" y="2880360"/>
            <a:ext cx="182880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مشرف المحطات</a:t>
            </a:r>
            <a:endParaRPr lang="ar-SA" sz="1400" dirty="0"/>
          </a:p>
        </p:txBody>
      </p:sp>
      <p:sp>
        <p:nvSpPr>
          <p:cNvPr id="8" name="Text 5"/>
          <p:cNvSpPr txBox="1"/>
          <p:nvPr/>
        </p:nvSpPr>
        <p:spPr>
          <a:xfrm>
            <a:off x="9677095" y="3383280"/>
            <a:ext cx="1828800" cy="91440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ينفّذ الزيارات على محطاته</a:t>
            </a:r>
            <a:endParaRPr lang="ar-SA" sz="1100" dirty="0"/>
          </a:p>
        </p:txBody>
      </p:sp>
      <p:sp>
        <p:nvSpPr>
          <p:cNvPr id="9" name="Text 6"/>
          <p:cNvSpPr txBox="1"/>
          <p:nvPr/>
        </p:nvSpPr>
        <p:spPr>
          <a:xfrm>
            <a:off x="9677095" y="4315968"/>
            <a:ext cx="1828800" cy="365760"/>
          </a:xfrm>
          <a:prstGeom prst="rect">
            <a:avLst/>
          </a:prstGeom>
          <a:noFill/>
          <a:ln/>
        </p:spPr>
        <p:txBody>
          <a:bodyPr wrap="square" lIns="0" tIns="0" rIns="0" bIns="0" rtlCol="0" anchor="ctr"/>
          <a:lstStyle/>
          <a:p>
            <a:pPr rtl="1" algn="ctr" indent="0" marL="0">
              <a:buNone/>
            </a:pPr>
            <a:r>
              <a:rPr lang="ar-SA" altLang="en-US" sz="950" dirty="0">
                <a:solidFill>
                  <a:srgbClr val="0089C4"/>
                </a:solidFill>
                <a:latin typeface="Arial" pitchFamily="34" charset="0"/>
                <a:ea typeface="Arial" pitchFamily="34" charset="-122"/>
                <a:cs typeface="Arial" pitchFamily="34" charset="-120"/>
              </a:rPr>
              <a:t>مربوط بمساعد الإشراف</a:t>
            </a:r>
            <a:endParaRPr lang="ar-SA" sz="950" dirty="0"/>
          </a:p>
        </p:txBody>
      </p:sp>
      <p:sp>
        <p:nvSpPr>
          <p:cNvPr id="10" name="Shape 7"/>
          <p:cNvSpPr/>
          <p:nvPr/>
        </p:nvSpPr>
        <p:spPr>
          <a:xfrm>
            <a:off x="9357055" y="3154680"/>
            <a:ext cx="182880" cy="292608"/>
          </a:xfrm>
          <a:prstGeom prst="leftArrow">
            <a:avLst/>
          </a:prstGeom>
          <a:solidFill>
            <a:srgbClr val="D2ECF8"/>
          </a:solidFill>
          <a:ln w="12700">
            <a:solidFill>
              <a:srgbClr val="D2ECF8"/>
            </a:solidFill>
            <a:prstDash val="solid"/>
          </a:ln>
        </p:spPr>
      </p:sp>
      <p:sp>
        <p:nvSpPr>
          <p:cNvPr id="11" name="Shape 8"/>
          <p:cNvSpPr/>
          <p:nvPr/>
        </p:nvSpPr>
        <p:spPr>
          <a:xfrm>
            <a:off x="7253935" y="1828800"/>
            <a:ext cx="2103120" cy="2926080"/>
          </a:xfrm>
          <a:prstGeom prst="roundRect">
            <a:avLst>
              <a:gd name="adj" fmla="val 6087"/>
            </a:avLst>
          </a:prstGeom>
          <a:solidFill>
            <a:srgbClr val="213E71"/>
          </a:solidFill>
          <a:ln w="9525">
            <a:solidFill>
              <a:srgbClr val="213E71"/>
            </a:solidFill>
            <a:prstDash val="solid"/>
          </a:ln>
          <a:effectLst>
            <a:outerShdw sx="100000" sy="100000" kx="0" ky="0" algn="bl" rotWithShape="0" blurRad="76200" dist="25400" dir="5400000">
              <a:srgbClr val="213E71">
                <a:alpha val="8000"/>
              </a:srgbClr>
            </a:outerShdw>
          </a:effectLst>
        </p:spPr>
      </p:sp>
      <p:sp>
        <p:nvSpPr>
          <p:cNvPr id="12" name="Shape 9"/>
          <p:cNvSpPr/>
          <p:nvPr/>
        </p:nvSpPr>
        <p:spPr>
          <a:xfrm>
            <a:off x="7939735" y="2057400"/>
            <a:ext cx="731520" cy="731520"/>
          </a:xfrm>
          <a:prstGeom prst="ellipse">
            <a:avLst/>
          </a:prstGeom>
          <a:solidFill>
            <a:srgbClr val="2A4C86"/>
          </a:solidFill>
          <a:ln w="12700">
            <a:solidFill>
              <a:srgbClr val="2A4C86"/>
            </a:solidFill>
            <a:prstDash val="solid"/>
          </a:ln>
        </p:spPr>
      </p:sp>
      <p:pic>
        <p:nvPicPr>
          <p:cNvPr id="13" name="Image 1" descr="preencoded.png">    </p:cNvPr>
          <p:cNvPicPr>
            <a:picLocks noChangeAspect="1"/>
          </p:cNvPicPr>
          <p:nvPr/>
        </p:nvPicPr>
        <p:blipFill>
          <a:blip r:embed="rId2"/>
          <a:stretch>
            <a:fillRect/>
          </a:stretch>
        </p:blipFill>
        <p:spPr>
          <a:xfrm>
            <a:off x="8122615" y="2240280"/>
            <a:ext cx="365760" cy="365760"/>
          </a:xfrm>
          <a:prstGeom prst="rect">
            <a:avLst/>
          </a:prstGeom>
        </p:spPr>
      </p:pic>
      <p:sp>
        <p:nvSpPr>
          <p:cNvPr id="14" name="Text 10"/>
          <p:cNvSpPr txBox="1"/>
          <p:nvPr/>
        </p:nvSpPr>
        <p:spPr>
          <a:xfrm>
            <a:off x="7391095" y="2880360"/>
            <a:ext cx="1828800" cy="457200"/>
          </a:xfrm>
          <a:prstGeom prst="rect">
            <a:avLst/>
          </a:prstGeom>
          <a:noFill/>
          <a:ln/>
        </p:spPr>
        <p:txBody>
          <a:bodyPr wrap="square" lIns="0" tIns="0" rIns="0" bIns="0" rtlCol="0" anchor="ctr"/>
          <a:lstStyle/>
          <a:p>
            <a:pPr rtl="1" algn="ctr" indent="0" marL="0">
              <a:buNone/>
            </a:pPr>
            <a:r>
              <a:rPr lang="ar-SA" altLang="en-US" sz="1400" b="1" dirty="0">
                <a:solidFill>
                  <a:srgbClr val="FFFFFF"/>
                </a:solidFill>
                <a:latin typeface="Arial" pitchFamily="34" charset="0"/>
                <a:ea typeface="Arial" pitchFamily="34" charset="-122"/>
                <a:cs typeface="Arial" pitchFamily="34" charset="-120"/>
              </a:rPr>
              <a:t>مساعد الإشراف</a:t>
            </a:r>
            <a:endParaRPr lang="ar-SA" sz="1400" dirty="0"/>
          </a:p>
        </p:txBody>
      </p:sp>
      <p:sp>
        <p:nvSpPr>
          <p:cNvPr id="15" name="Text 11"/>
          <p:cNvSpPr txBox="1"/>
          <p:nvPr/>
        </p:nvSpPr>
        <p:spPr>
          <a:xfrm>
            <a:off x="7391095" y="3383280"/>
            <a:ext cx="1828800" cy="91440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CADCFC"/>
                </a:solidFill>
                <a:latin typeface="Arial" pitchFamily="34" charset="0"/>
                <a:ea typeface="Arial" pitchFamily="34" charset="-122"/>
                <a:cs typeface="Arial" pitchFamily="34" charset="-120"/>
              </a:rPr>
              <a:t>يسند المحطات ويعتمد الزيارات</a:t>
            </a:r>
            <a:endParaRPr lang="ar-SA" sz="1100" dirty="0"/>
          </a:p>
        </p:txBody>
      </p:sp>
      <p:sp>
        <p:nvSpPr>
          <p:cNvPr id="16" name="Text 12"/>
          <p:cNvSpPr txBox="1"/>
          <p:nvPr/>
        </p:nvSpPr>
        <p:spPr>
          <a:xfrm>
            <a:off x="7391095" y="4315968"/>
            <a:ext cx="1828800" cy="365760"/>
          </a:xfrm>
          <a:prstGeom prst="rect">
            <a:avLst/>
          </a:prstGeom>
          <a:noFill/>
          <a:ln/>
        </p:spPr>
        <p:txBody>
          <a:bodyPr wrap="square" lIns="0" tIns="0" rIns="0" bIns="0" rtlCol="0" anchor="ctr"/>
          <a:lstStyle/>
          <a:p>
            <a:pPr rtl="1" algn="ctr" indent="0" marL="0">
              <a:buNone/>
            </a:pPr>
            <a:r>
              <a:rPr lang="ar-SA" altLang="en-US" sz="950" dirty="0">
                <a:solidFill>
                  <a:srgbClr val="7FDBFF"/>
                </a:solidFill>
                <a:latin typeface="Arial" pitchFamily="34" charset="0"/>
                <a:ea typeface="Arial" pitchFamily="34" charset="-122"/>
                <a:cs typeface="Arial" pitchFamily="34" charset="-120"/>
              </a:rPr>
              <a:t>مربوط بمسؤول الإشراف</a:t>
            </a:r>
            <a:endParaRPr lang="ar-SA" sz="950" dirty="0"/>
          </a:p>
        </p:txBody>
      </p:sp>
      <p:sp>
        <p:nvSpPr>
          <p:cNvPr id="17" name="Shape 13"/>
          <p:cNvSpPr/>
          <p:nvPr/>
        </p:nvSpPr>
        <p:spPr>
          <a:xfrm>
            <a:off x="7071055" y="3154680"/>
            <a:ext cx="182880" cy="292608"/>
          </a:xfrm>
          <a:prstGeom prst="leftArrow">
            <a:avLst/>
          </a:prstGeom>
          <a:solidFill>
            <a:srgbClr val="D2ECF8"/>
          </a:solidFill>
          <a:ln w="12700">
            <a:solidFill>
              <a:srgbClr val="D2ECF8"/>
            </a:solidFill>
            <a:prstDash val="solid"/>
          </a:ln>
        </p:spPr>
      </p:sp>
      <p:sp>
        <p:nvSpPr>
          <p:cNvPr id="18" name="Shape 14"/>
          <p:cNvSpPr/>
          <p:nvPr/>
        </p:nvSpPr>
        <p:spPr>
          <a:xfrm>
            <a:off x="4967935" y="1828800"/>
            <a:ext cx="2103120" cy="2926080"/>
          </a:xfrm>
          <a:prstGeom prst="roundRect">
            <a:avLst>
              <a:gd name="adj" fmla="val 6087"/>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9" name="Shape 15"/>
          <p:cNvSpPr/>
          <p:nvPr/>
        </p:nvSpPr>
        <p:spPr>
          <a:xfrm>
            <a:off x="5653735" y="2057400"/>
            <a:ext cx="731520" cy="731520"/>
          </a:xfrm>
          <a:prstGeom prst="ellipse">
            <a:avLst/>
          </a:prstGeom>
          <a:solidFill>
            <a:srgbClr val="EAF6FC"/>
          </a:solidFill>
          <a:ln w="12700">
            <a:solidFill>
              <a:srgbClr val="EAF6FC"/>
            </a:solidFill>
            <a:prstDash val="solid"/>
          </a:ln>
        </p:spPr>
      </p:sp>
      <p:pic>
        <p:nvPicPr>
          <p:cNvPr id="20" name="Image 2" descr="preencoded.png">    </p:cNvPr>
          <p:cNvPicPr>
            <a:picLocks noChangeAspect="1"/>
          </p:cNvPicPr>
          <p:nvPr/>
        </p:nvPicPr>
        <p:blipFill>
          <a:blip r:embed="rId3"/>
          <a:stretch>
            <a:fillRect/>
          </a:stretch>
        </p:blipFill>
        <p:spPr>
          <a:xfrm>
            <a:off x="5836615" y="2240280"/>
            <a:ext cx="365760" cy="365760"/>
          </a:xfrm>
          <a:prstGeom prst="rect">
            <a:avLst/>
          </a:prstGeom>
        </p:spPr>
      </p:pic>
      <p:sp>
        <p:nvSpPr>
          <p:cNvPr id="21" name="Text 16"/>
          <p:cNvSpPr txBox="1"/>
          <p:nvPr/>
        </p:nvSpPr>
        <p:spPr>
          <a:xfrm>
            <a:off x="5105095" y="2880360"/>
            <a:ext cx="182880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مسؤول الإشراف</a:t>
            </a:r>
            <a:endParaRPr lang="ar-SA" sz="1400" dirty="0"/>
          </a:p>
        </p:txBody>
      </p:sp>
      <p:sp>
        <p:nvSpPr>
          <p:cNvPr id="22" name="Text 17"/>
          <p:cNvSpPr txBox="1"/>
          <p:nvPr/>
        </p:nvSpPr>
        <p:spPr>
          <a:xfrm>
            <a:off x="5105095" y="3383280"/>
            <a:ext cx="1828800" cy="91440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يطّلع ويحدد الأولوية ويستقبل التصعيد الأول</a:t>
            </a:r>
            <a:endParaRPr lang="ar-SA" sz="1100" dirty="0"/>
          </a:p>
        </p:txBody>
      </p:sp>
      <p:sp>
        <p:nvSpPr>
          <p:cNvPr id="23" name="Text 18"/>
          <p:cNvSpPr txBox="1"/>
          <p:nvPr/>
        </p:nvSpPr>
        <p:spPr>
          <a:xfrm>
            <a:off x="5105095" y="4315968"/>
            <a:ext cx="1828800" cy="365760"/>
          </a:xfrm>
          <a:prstGeom prst="rect">
            <a:avLst/>
          </a:prstGeom>
          <a:noFill/>
          <a:ln/>
        </p:spPr>
        <p:txBody>
          <a:bodyPr wrap="square" lIns="0" tIns="0" rIns="0" bIns="0" rtlCol="0" anchor="ctr"/>
          <a:lstStyle/>
          <a:p>
            <a:pPr rtl="1" algn="ctr" indent="0" marL="0">
              <a:buNone/>
            </a:pPr>
            <a:r>
              <a:rPr lang="ar-SA" altLang="en-US" sz="950" dirty="0">
                <a:solidFill>
                  <a:srgbClr val="0089C4"/>
                </a:solidFill>
                <a:latin typeface="Arial" pitchFamily="34" charset="0"/>
                <a:ea typeface="Arial" pitchFamily="34" charset="-122"/>
                <a:cs typeface="Arial" pitchFamily="34" charset="-120"/>
              </a:rPr>
              <a:t>مربوط بمسؤول تشغيل المنطقة</a:t>
            </a:r>
            <a:endParaRPr lang="ar-SA" sz="950" dirty="0"/>
          </a:p>
        </p:txBody>
      </p:sp>
      <p:sp>
        <p:nvSpPr>
          <p:cNvPr id="24" name="Shape 19"/>
          <p:cNvSpPr/>
          <p:nvPr/>
        </p:nvSpPr>
        <p:spPr>
          <a:xfrm>
            <a:off x="4785055" y="3154680"/>
            <a:ext cx="182880" cy="292608"/>
          </a:xfrm>
          <a:prstGeom prst="leftArrow">
            <a:avLst/>
          </a:prstGeom>
          <a:solidFill>
            <a:srgbClr val="D2ECF8"/>
          </a:solidFill>
          <a:ln w="12700">
            <a:solidFill>
              <a:srgbClr val="D2ECF8"/>
            </a:solidFill>
            <a:prstDash val="solid"/>
          </a:ln>
        </p:spPr>
      </p:sp>
      <p:sp>
        <p:nvSpPr>
          <p:cNvPr id="25" name="Shape 20"/>
          <p:cNvSpPr/>
          <p:nvPr/>
        </p:nvSpPr>
        <p:spPr>
          <a:xfrm>
            <a:off x="2681935" y="1828800"/>
            <a:ext cx="2103120" cy="2926080"/>
          </a:xfrm>
          <a:prstGeom prst="roundRect">
            <a:avLst>
              <a:gd name="adj" fmla="val 6087"/>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26" name="Shape 21"/>
          <p:cNvSpPr/>
          <p:nvPr/>
        </p:nvSpPr>
        <p:spPr>
          <a:xfrm>
            <a:off x="3367735" y="2057400"/>
            <a:ext cx="731520" cy="731520"/>
          </a:xfrm>
          <a:prstGeom prst="ellipse">
            <a:avLst/>
          </a:prstGeom>
          <a:solidFill>
            <a:srgbClr val="EAF6FC"/>
          </a:solidFill>
          <a:ln w="12700">
            <a:solidFill>
              <a:srgbClr val="EAF6FC"/>
            </a:solidFill>
            <a:prstDash val="solid"/>
          </a:ln>
        </p:spPr>
      </p:sp>
      <p:pic>
        <p:nvPicPr>
          <p:cNvPr id="27" name="Image 3" descr="preencoded.png">    </p:cNvPr>
          <p:cNvPicPr>
            <a:picLocks noChangeAspect="1"/>
          </p:cNvPicPr>
          <p:nvPr/>
        </p:nvPicPr>
        <p:blipFill>
          <a:blip r:embed="rId4"/>
          <a:stretch>
            <a:fillRect/>
          </a:stretch>
        </p:blipFill>
        <p:spPr>
          <a:xfrm>
            <a:off x="3550615" y="2240280"/>
            <a:ext cx="365760" cy="365760"/>
          </a:xfrm>
          <a:prstGeom prst="rect">
            <a:avLst/>
          </a:prstGeom>
        </p:spPr>
      </p:pic>
      <p:sp>
        <p:nvSpPr>
          <p:cNvPr id="28" name="Text 22"/>
          <p:cNvSpPr txBox="1"/>
          <p:nvPr/>
        </p:nvSpPr>
        <p:spPr>
          <a:xfrm>
            <a:off x="2819095" y="2880360"/>
            <a:ext cx="182880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مسؤول تشغيل المنطقة</a:t>
            </a:r>
            <a:endParaRPr lang="ar-SA" sz="1400" dirty="0"/>
          </a:p>
        </p:txBody>
      </p:sp>
      <p:sp>
        <p:nvSpPr>
          <p:cNvPr id="29" name="Text 23"/>
          <p:cNvSpPr txBox="1"/>
          <p:nvPr/>
        </p:nvSpPr>
        <p:spPr>
          <a:xfrm>
            <a:off x="2819095" y="3383280"/>
            <a:ext cx="1828800" cy="91440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يطّلع ويحدد الأولوية ويستقبل التصعيد الثاني</a:t>
            </a:r>
            <a:endParaRPr lang="ar-SA" sz="1100" dirty="0"/>
          </a:p>
        </p:txBody>
      </p:sp>
      <p:sp>
        <p:nvSpPr>
          <p:cNvPr id="30" name="Text 24"/>
          <p:cNvSpPr txBox="1"/>
          <p:nvPr/>
        </p:nvSpPr>
        <p:spPr>
          <a:xfrm>
            <a:off x="2819095" y="4315968"/>
            <a:ext cx="1828800" cy="365760"/>
          </a:xfrm>
          <a:prstGeom prst="rect">
            <a:avLst/>
          </a:prstGeom>
          <a:noFill/>
          <a:ln/>
        </p:spPr>
        <p:txBody>
          <a:bodyPr wrap="square" lIns="0" tIns="0" rIns="0" bIns="0" rtlCol="0" anchor="ctr"/>
          <a:lstStyle/>
          <a:p>
            <a:pPr rtl="1" algn="ctr" indent="0" marL="0">
              <a:buNone/>
            </a:pPr>
            <a:r>
              <a:rPr lang="ar-SA" altLang="en-US" sz="950" dirty="0">
                <a:solidFill>
                  <a:srgbClr val="0089C4"/>
                </a:solidFill>
                <a:latin typeface="Arial" pitchFamily="34" charset="0"/>
                <a:ea typeface="Arial" pitchFamily="34" charset="-122"/>
                <a:cs typeface="Arial" pitchFamily="34" charset="-120"/>
              </a:rPr>
              <a:t>مربوط بمدير العمليات</a:t>
            </a:r>
            <a:endParaRPr lang="ar-SA" sz="950" dirty="0"/>
          </a:p>
        </p:txBody>
      </p:sp>
      <p:sp>
        <p:nvSpPr>
          <p:cNvPr id="31" name="Shape 25"/>
          <p:cNvSpPr/>
          <p:nvPr/>
        </p:nvSpPr>
        <p:spPr>
          <a:xfrm>
            <a:off x="2499055" y="3154680"/>
            <a:ext cx="182880" cy="292608"/>
          </a:xfrm>
          <a:prstGeom prst="leftArrow">
            <a:avLst/>
          </a:prstGeom>
          <a:solidFill>
            <a:srgbClr val="D2ECF8"/>
          </a:solidFill>
          <a:ln w="12700">
            <a:solidFill>
              <a:srgbClr val="D2ECF8"/>
            </a:solidFill>
            <a:prstDash val="solid"/>
          </a:ln>
        </p:spPr>
      </p:sp>
      <p:sp>
        <p:nvSpPr>
          <p:cNvPr id="32" name="Shape 26"/>
          <p:cNvSpPr/>
          <p:nvPr/>
        </p:nvSpPr>
        <p:spPr>
          <a:xfrm>
            <a:off x="395935" y="1828800"/>
            <a:ext cx="2103120" cy="2926080"/>
          </a:xfrm>
          <a:prstGeom prst="roundRect">
            <a:avLst>
              <a:gd name="adj" fmla="val 6087"/>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33" name="Shape 27"/>
          <p:cNvSpPr/>
          <p:nvPr/>
        </p:nvSpPr>
        <p:spPr>
          <a:xfrm>
            <a:off x="1081735" y="2057400"/>
            <a:ext cx="731520" cy="731520"/>
          </a:xfrm>
          <a:prstGeom prst="ellipse">
            <a:avLst/>
          </a:prstGeom>
          <a:solidFill>
            <a:srgbClr val="EAF6FC"/>
          </a:solidFill>
          <a:ln w="12700">
            <a:solidFill>
              <a:srgbClr val="EAF6FC"/>
            </a:solidFill>
            <a:prstDash val="solid"/>
          </a:ln>
        </p:spPr>
      </p:sp>
      <p:pic>
        <p:nvPicPr>
          <p:cNvPr id="34" name="Image 4" descr="preencoded.png">    </p:cNvPr>
          <p:cNvPicPr>
            <a:picLocks noChangeAspect="1"/>
          </p:cNvPicPr>
          <p:nvPr/>
        </p:nvPicPr>
        <p:blipFill>
          <a:blip r:embed="rId5"/>
          <a:stretch>
            <a:fillRect/>
          </a:stretch>
        </p:blipFill>
        <p:spPr>
          <a:xfrm>
            <a:off x="1264615" y="2240280"/>
            <a:ext cx="365760" cy="365760"/>
          </a:xfrm>
          <a:prstGeom prst="rect">
            <a:avLst/>
          </a:prstGeom>
        </p:spPr>
      </p:pic>
      <p:sp>
        <p:nvSpPr>
          <p:cNvPr id="35" name="Text 28"/>
          <p:cNvSpPr txBox="1"/>
          <p:nvPr/>
        </p:nvSpPr>
        <p:spPr>
          <a:xfrm>
            <a:off x="533095" y="2880360"/>
            <a:ext cx="182880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مدير العمليات</a:t>
            </a:r>
            <a:endParaRPr lang="ar-SA" sz="1400" dirty="0"/>
          </a:p>
        </p:txBody>
      </p:sp>
      <p:sp>
        <p:nvSpPr>
          <p:cNvPr id="36" name="Text 29"/>
          <p:cNvSpPr txBox="1"/>
          <p:nvPr/>
        </p:nvSpPr>
        <p:spPr>
          <a:xfrm>
            <a:off x="533095" y="3383280"/>
            <a:ext cx="1828800" cy="91440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يرى الكل، يطلب الزيارات، ويستقبل التصعيد النهائي</a:t>
            </a:r>
            <a:endParaRPr lang="ar-SA" sz="1100" dirty="0"/>
          </a:p>
        </p:txBody>
      </p:sp>
      <p:sp>
        <p:nvSpPr>
          <p:cNvPr id="37" name="Shape 30"/>
          <p:cNvSpPr/>
          <p:nvPr/>
        </p:nvSpPr>
        <p:spPr>
          <a:xfrm>
            <a:off x="548640" y="5120640"/>
            <a:ext cx="11094415" cy="868680"/>
          </a:xfrm>
          <a:prstGeom prst="roundRect">
            <a:avLst>
              <a:gd name="adj" fmla="val 12632"/>
            </a:avLst>
          </a:prstGeom>
          <a:solidFill>
            <a:srgbClr val="EAF6FC"/>
          </a:solidFill>
          <a:ln w="12700">
            <a:solidFill>
              <a:srgbClr val="EAF6FC"/>
            </a:solidFill>
            <a:prstDash val="solid"/>
          </a:ln>
        </p:spPr>
      </p:sp>
      <p:pic>
        <p:nvPicPr>
          <p:cNvPr id="38" name="Image 5" descr="preencoded.png">    </p:cNvPr>
          <p:cNvPicPr>
            <a:picLocks noChangeAspect="1"/>
          </p:cNvPicPr>
          <p:nvPr/>
        </p:nvPicPr>
        <p:blipFill>
          <a:blip r:embed="rId6"/>
          <a:stretch>
            <a:fillRect/>
          </a:stretch>
        </p:blipFill>
        <p:spPr>
          <a:xfrm>
            <a:off x="11002975" y="5349240"/>
            <a:ext cx="411480" cy="411480"/>
          </a:xfrm>
          <a:prstGeom prst="rect">
            <a:avLst/>
          </a:prstGeom>
        </p:spPr>
      </p:pic>
      <p:sp>
        <p:nvSpPr>
          <p:cNvPr id="39" name="Text 31"/>
          <p:cNvSpPr txBox="1"/>
          <p:nvPr/>
        </p:nvSpPr>
        <p:spPr>
          <a:xfrm>
            <a:off x="777240" y="5212080"/>
            <a:ext cx="9951415" cy="685800"/>
          </a:xfrm>
          <a:prstGeom prst="rect">
            <a:avLst/>
          </a:prstGeom>
          <a:noFill/>
          <a:ln/>
        </p:spPr>
        <p:txBody>
          <a:bodyPr wrap="square" lIns="0" tIns="0" rIns="0" bIns="0" rtlCol="0" anchor="ctr"/>
          <a:lstStyle/>
          <a:p>
            <a:pPr algn="r" indent="0" marL="0">
              <a:lnSpc>
                <a:spcPct val="120000"/>
              </a:lnSpc>
              <a:buNone/>
            </a:pPr>
            <a:r>
              <a:rPr lang="ar-SA" altLang="en-US" sz="1200" b="1" dirty="0">
                <a:solidFill>
                  <a:srgbClr val="213E71"/>
                </a:solidFill>
                <a:latin typeface="Arial" pitchFamily="34" charset="0"/>
                <a:ea typeface="Arial" pitchFamily="34" charset="-122"/>
                <a:cs typeface="Arial" pitchFamily="34" charset="-120"/>
              </a:rPr>
              <a:t>مدير النظام: </a:t>
            </a:r>
            <a:pPr algn="r" indent="0" marL="0">
              <a:lnSpc>
                <a:spcPct val="120000"/>
              </a:lnSpc>
              <a:buNone/>
            </a:pPr>
            <a:r>
              <a:rPr lang="ar-SA" altLang="en-US" sz="1200" dirty="0">
                <a:solidFill>
                  <a:srgbClr val="172A3A"/>
                </a:solidFill>
                <a:latin typeface="Arial" pitchFamily="34" charset="0"/>
                <a:ea typeface="Arial" pitchFamily="34" charset="-122"/>
                <a:cs typeface="Arial" pitchFamily="34" charset="-120"/>
              </a:rPr>
              <a:t>يرى الكل ويدير المستخدمين والأدوار والصلاحيات وقوائم التحقق، ويفتح الزيارات الأسبوعية/الشهرية استثناءً. الرؤية شجرية: من لم يُربط له فريق لا يرى شيئًا، فاربط كل مستخدم بمن فوقه.</a:t>
            </a:r>
            <a:endParaRPr lang="ar-SA" sz="1200" dirty="0"/>
          </a:p>
        </p:txBody>
      </p:sp>
      <p:sp>
        <p:nvSpPr>
          <p:cNvPr id="40" name="Text 32"/>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41" name="Text 33"/>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3</a:t>
            </a:r>
            <a:endParaRPr lang="ar-SA"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إسناد المحطات: مباشر وبلا اعتماد</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مساعد الإشراف يضع المحطات لمشرفيه، فيصبح المشرف تحت اسمه فورًا</a:t>
            </a:r>
            <a:endParaRPr lang="ar-SA" sz="1500" dirty="0"/>
          </a:p>
        </p:txBody>
      </p:sp>
      <p:sp>
        <p:nvSpPr>
          <p:cNvPr id="4" name="Shape 2"/>
          <p:cNvSpPr/>
          <p:nvPr/>
        </p:nvSpPr>
        <p:spPr>
          <a:xfrm>
            <a:off x="9037015" y="1828800"/>
            <a:ext cx="2606040" cy="2468880"/>
          </a:xfrm>
          <a:prstGeom prst="roundRect">
            <a:avLst>
              <a:gd name="adj" fmla="val 51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865815" y="2029968"/>
            <a:ext cx="548640" cy="548640"/>
          </a:xfrm>
          <a:prstGeom prst="ellipse">
            <a:avLst/>
          </a:prstGeom>
          <a:solidFill>
            <a:srgbClr val="213E71"/>
          </a:solidFill>
          <a:ln w="12700">
            <a:solidFill>
              <a:srgbClr val="213E71"/>
            </a:solidFill>
            <a:prstDash val="solid"/>
          </a:ln>
        </p:spPr>
      </p:sp>
      <p:sp>
        <p:nvSpPr>
          <p:cNvPr id="6" name="Text 4"/>
          <p:cNvSpPr txBox="1"/>
          <p:nvPr/>
        </p:nvSpPr>
        <p:spPr>
          <a:xfrm>
            <a:off x="10865815" y="2029968"/>
            <a:ext cx="548640" cy="548640"/>
          </a:xfrm>
          <a:prstGeom prst="rect">
            <a:avLst/>
          </a:prstGeom>
          <a:noFill/>
          <a:ln/>
        </p:spPr>
        <p:txBody>
          <a:bodyPr wrap="square" lIns="0" tIns="0" rIns="0" bIns="0" rtlCol="0" anchor="ctr"/>
          <a:lstStyle/>
          <a:p>
            <a:pPr rtl="1" algn="ctr" indent="0" marL="0">
              <a:buNone/>
            </a:pPr>
            <a:r>
              <a:rPr lang="ar-SA" altLang="en-US" sz="1800" b="1" dirty="0">
                <a:solidFill>
                  <a:srgbClr val="FFFFFF"/>
                </a:solidFill>
                <a:latin typeface="Arial" pitchFamily="34" charset="0"/>
                <a:ea typeface="Arial" pitchFamily="34" charset="-122"/>
                <a:cs typeface="Arial" pitchFamily="34" charset="-120"/>
              </a:rPr>
              <a:t>1</a:t>
            </a:r>
            <a:endParaRPr lang="ar-SA" sz="1800" dirty="0"/>
          </a:p>
        </p:txBody>
      </p:sp>
      <p:sp>
        <p:nvSpPr>
          <p:cNvPr id="7" name="Text 5"/>
          <p:cNvSpPr txBox="1"/>
          <p:nvPr/>
        </p:nvSpPr>
        <p:spPr>
          <a:xfrm>
            <a:off x="9265615" y="2029968"/>
            <a:ext cx="146304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يفتح «إسناد المحطات»</a:t>
            </a:r>
            <a:endParaRPr lang="ar-SA" sz="1500" dirty="0"/>
          </a:p>
        </p:txBody>
      </p:sp>
      <p:sp>
        <p:nvSpPr>
          <p:cNvPr id="8" name="Text 6"/>
          <p:cNvSpPr txBox="1"/>
          <p:nvPr/>
        </p:nvSpPr>
        <p:spPr>
          <a:xfrm>
            <a:off x="9265615" y="2697480"/>
            <a:ext cx="2148840" cy="14630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يرى مشرفيه، ومن بلا مساعد، ومن لدى مساعدين آخرين.</a:t>
            </a:r>
            <a:endParaRPr lang="ar-SA" sz="1200" dirty="0"/>
          </a:p>
        </p:txBody>
      </p:sp>
      <p:sp>
        <p:nvSpPr>
          <p:cNvPr id="9" name="Shape 7"/>
          <p:cNvSpPr/>
          <p:nvPr/>
        </p:nvSpPr>
        <p:spPr>
          <a:xfrm>
            <a:off x="8799271" y="2926080"/>
            <a:ext cx="219456" cy="292608"/>
          </a:xfrm>
          <a:prstGeom prst="leftArrow">
            <a:avLst/>
          </a:prstGeom>
          <a:solidFill>
            <a:srgbClr val="D2ECF8"/>
          </a:solidFill>
          <a:ln w="12700">
            <a:solidFill>
              <a:srgbClr val="D2ECF8"/>
            </a:solidFill>
            <a:prstDash val="solid"/>
          </a:ln>
        </p:spPr>
      </p:sp>
      <p:sp>
        <p:nvSpPr>
          <p:cNvPr id="10" name="Shape 8"/>
          <p:cNvSpPr/>
          <p:nvPr/>
        </p:nvSpPr>
        <p:spPr>
          <a:xfrm>
            <a:off x="6174943" y="1828800"/>
            <a:ext cx="2606040" cy="2468880"/>
          </a:xfrm>
          <a:prstGeom prst="roundRect">
            <a:avLst>
              <a:gd name="adj" fmla="val 51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1" name="Shape 9"/>
          <p:cNvSpPr/>
          <p:nvPr/>
        </p:nvSpPr>
        <p:spPr>
          <a:xfrm>
            <a:off x="8003743" y="2029968"/>
            <a:ext cx="548640" cy="548640"/>
          </a:xfrm>
          <a:prstGeom prst="ellipse">
            <a:avLst/>
          </a:prstGeom>
          <a:solidFill>
            <a:srgbClr val="213E71"/>
          </a:solidFill>
          <a:ln w="12700">
            <a:solidFill>
              <a:srgbClr val="213E71"/>
            </a:solidFill>
            <a:prstDash val="solid"/>
          </a:ln>
        </p:spPr>
      </p:sp>
      <p:sp>
        <p:nvSpPr>
          <p:cNvPr id="12" name="Text 10"/>
          <p:cNvSpPr txBox="1"/>
          <p:nvPr/>
        </p:nvSpPr>
        <p:spPr>
          <a:xfrm>
            <a:off x="8003743" y="2029968"/>
            <a:ext cx="548640" cy="548640"/>
          </a:xfrm>
          <a:prstGeom prst="rect">
            <a:avLst/>
          </a:prstGeom>
          <a:noFill/>
          <a:ln/>
        </p:spPr>
        <p:txBody>
          <a:bodyPr wrap="square" lIns="0" tIns="0" rIns="0" bIns="0" rtlCol="0" anchor="ctr"/>
          <a:lstStyle/>
          <a:p>
            <a:pPr rtl="1" algn="ctr" indent="0" marL="0">
              <a:buNone/>
            </a:pPr>
            <a:r>
              <a:rPr lang="ar-SA" altLang="en-US" sz="1800" b="1" dirty="0">
                <a:solidFill>
                  <a:srgbClr val="FFFFFF"/>
                </a:solidFill>
                <a:latin typeface="Arial" pitchFamily="34" charset="0"/>
                <a:ea typeface="Arial" pitchFamily="34" charset="-122"/>
                <a:cs typeface="Arial" pitchFamily="34" charset="-120"/>
              </a:rPr>
              <a:t>2</a:t>
            </a:r>
            <a:endParaRPr lang="ar-SA" sz="1800" dirty="0"/>
          </a:p>
        </p:txBody>
      </p:sp>
      <p:sp>
        <p:nvSpPr>
          <p:cNvPr id="13" name="Text 11"/>
          <p:cNvSpPr txBox="1"/>
          <p:nvPr/>
        </p:nvSpPr>
        <p:spPr>
          <a:xfrm>
            <a:off x="6403543" y="2029968"/>
            <a:ext cx="146304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يضيف المحطات بالبحث</a:t>
            </a:r>
            <a:endParaRPr lang="ar-SA" sz="1500" dirty="0"/>
          </a:p>
        </p:txBody>
      </p:sp>
      <p:sp>
        <p:nvSpPr>
          <p:cNvPr id="14" name="Text 12"/>
          <p:cNvSpPr txBox="1"/>
          <p:nvPr/>
        </p:nvSpPr>
        <p:spPr>
          <a:xfrm>
            <a:off x="6403543" y="2697480"/>
            <a:ext cx="2148840" cy="14630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بالرقم أو الاسم. المحطة المشغولة لدى مشرف آخر تُنقل منه مع تحذير واضح.</a:t>
            </a:r>
            <a:endParaRPr lang="ar-SA" sz="1200" dirty="0"/>
          </a:p>
        </p:txBody>
      </p:sp>
      <p:sp>
        <p:nvSpPr>
          <p:cNvPr id="15" name="Shape 13"/>
          <p:cNvSpPr/>
          <p:nvPr/>
        </p:nvSpPr>
        <p:spPr>
          <a:xfrm>
            <a:off x="5937199" y="2926080"/>
            <a:ext cx="219456" cy="292608"/>
          </a:xfrm>
          <a:prstGeom prst="leftArrow">
            <a:avLst/>
          </a:prstGeom>
          <a:solidFill>
            <a:srgbClr val="D2ECF8"/>
          </a:solidFill>
          <a:ln w="12700">
            <a:solidFill>
              <a:srgbClr val="D2ECF8"/>
            </a:solidFill>
            <a:prstDash val="solid"/>
          </a:ln>
        </p:spPr>
      </p:sp>
      <p:sp>
        <p:nvSpPr>
          <p:cNvPr id="16" name="Shape 14"/>
          <p:cNvSpPr/>
          <p:nvPr/>
        </p:nvSpPr>
        <p:spPr>
          <a:xfrm>
            <a:off x="3312871" y="1828800"/>
            <a:ext cx="2606040" cy="2468880"/>
          </a:xfrm>
          <a:prstGeom prst="roundRect">
            <a:avLst>
              <a:gd name="adj" fmla="val 51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7" name="Shape 15"/>
          <p:cNvSpPr/>
          <p:nvPr/>
        </p:nvSpPr>
        <p:spPr>
          <a:xfrm>
            <a:off x="5141671" y="2029968"/>
            <a:ext cx="548640" cy="548640"/>
          </a:xfrm>
          <a:prstGeom prst="ellipse">
            <a:avLst/>
          </a:prstGeom>
          <a:solidFill>
            <a:srgbClr val="213E71"/>
          </a:solidFill>
          <a:ln w="12700">
            <a:solidFill>
              <a:srgbClr val="213E71"/>
            </a:solidFill>
            <a:prstDash val="solid"/>
          </a:ln>
        </p:spPr>
      </p:sp>
      <p:sp>
        <p:nvSpPr>
          <p:cNvPr id="18" name="Text 16"/>
          <p:cNvSpPr txBox="1"/>
          <p:nvPr/>
        </p:nvSpPr>
        <p:spPr>
          <a:xfrm>
            <a:off x="5141671" y="2029968"/>
            <a:ext cx="548640" cy="548640"/>
          </a:xfrm>
          <a:prstGeom prst="rect">
            <a:avLst/>
          </a:prstGeom>
          <a:noFill/>
          <a:ln/>
        </p:spPr>
        <p:txBody>
          <a:bodyPr wrap="square" lIns="0" tIns="0" rIns="0" bIns="0" rtlCol="0" anchor="ctr"/>
          <a:lstStyle/>
          <a:p>
            <a:pPr rtl="1" algn="ctr" indent="0" marL="0">
              <a:buNone/>
            </a:pPr>
            <a:r>
              <a:rPr lang="ar-SA" altLang="en-US" sz="1800" b="1" dirty="0">
                <a:solidFill>
                  <a:srgbClr val="FFFFFF"/>
                </a:solidFill>
                <a:latin typeface="Arial" pitchFamily="34" charset="0"/>
                <a:ea typeface="Arial" pitchFamily="34" charset="-122"/>
                <a:cs typeface="Arial" pitchFamily="34" charset="-120"/>
              </a:rPr>
              <a:t>3</a:t>
            </a:r>
            <a:endParaRPr lang="ar-SA" sz="1800" dirty="0"/>
          </a:p>
        </p:txBody>
      </p:sp>
      <p:sp>
        <p:nvSpPr>
          <p:cNvPr id="19" name="Text 17"/>
          <p:cNvSpPr txBox="1"/>
          <p:nvPr/>
        </p:nvSpPr>
        <p:spPr>
          <a:xfrm>
            <a:off x="3541471" y="2029968"/>
            <a:ext cx="146304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يحفظ</a:t>
            </a:r>
            <a:endParaRPr lang="ar-SA" sz="1500" dirty="0"/>
          </a:p>
        </p:txBody>
      </p:sp>
      <p:sp>
        <p:nvSpPr>
          <p:cNvPr id="20" name="Text 18"/>
          <p:cNvSpPr txBox="1"/>
          <p:nvPr/>
        </p:nvSpPr>
        <p:spPr>
          <a:xfrm>
            <a:off x="3541471" y="2697480"/>
            <a:ext cx="2148840" cy="14630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تُسجَّل المحطات، ويصبح المشرف تحت اسم المساعد، ويُشعَر المشرف.</a:t>
            </a:r>
            <a:endParaRPr lang="ar-SA" sz="1200" dirty="0"/>
          </a:p>
        </p:txBody>
      </p:sp>
      <p:sp>
        <p:nvSpPr>
          <p:cNvPr id="21" name="Shape 19"/>
          <p:cNvSpPr/>
          <p:nvPr/>
        </p:nvSpPr>
        <p:spPr>
          <a:xfrm>
            <a:off x="3075127" y="2926080"/>
            <a:ext cx="219456" cy="292608"/>
          </a:xfrm>
          <a:prstGeom prst="leftArrow">
            <a:avLst/>
          </a:prstGeom>
          <a:solidFill>
            <a:srgbClr val="D2ECF8"/>
          </a:solidFill>
          <a:ln w="12700">
            <a:solidFill>
              <a:srgbClr val="D2ECF8"/>
            </a:solidFill>
            <a:prstDash val="solid"/>
          </a:ln>
        </p:spPr>
      </p:sp>
      <p:sp>
        <p:nvSpPr>
          <p:cNvPr id="22" name="Shape 20"/>
          <p:cNvSpPr/>
          <p:nvPr/>
        </p:nvSpPr>
        <p:spPr>
          <a:xfrm>
            <a:off x="450799" y="1828800"/>
            <a:ext cx="2606040" cy="2468880"/>
          </a:xfrm>
          <a:prstGeom prst="roundRect">
            <a:avLst>
              <a:gd name="adj" fmla="val 5185"/>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23" name="Shape 21"/>
          <p:cNvSpPr/>
          <p:nvPr/>
        </p:nvSpPr>
        <p:spPr>
          <a:xfrm>
            <a:off x="2279599" y="2029968"/>
            <a:ext cx="548640" cy="548640"/>
          </a:xfrm>
          <a:prstGeom prst="ellipse">
            <a:avLst/>
          </a:prstGeom>
          <a:solidFill>
            <a:srgbClr val="213E71"/>
          </a:solidFill>
          <a:ln w="12700">
            <a:solidFill>
              <a:srgbClr val="213E71"/>
            </a:solidFill>
            <a:prstDash val="solid"/>
          </a:ln>
        </p:spPr>
      </p:sp>
      <p:sp>
        <p:nvSpPr>
          <p:cNvPr id="24" name="Text 22"/>
          <p:cNvSpPr txBox="1"/>
          <p:nvPr/>
        </p:nvSpPr>
        <p:spPr>
          <a:xfrm>
            <a:off x="2279599" y="2029968"/>
            <a:ext cx="548640" cy="548640"/>
          </a:xfrm>
          <a:prstGeom prst="rect">
            <a:avLst/>
          </a:prstGeom>
          <a:noFill/>
          <a:ln/>
        </p:spPr>
        <p:txBody>
          <a:bodyPr wrap="square" lIns="0" tIns="0" rIns="0" bIns="0" rtlCol="0" anchor="ctr"/>
          <a:lstStyle/>
          <a:p>
            <a:pPr rtl="1" algn="ctr" indent="0" marL="0">
              <a:buNone/>
            </a:pPr>
            <a:r>
              <a:rPr lang="ar-SA" altLang="en-US" sz="1800" b="1" dirty="0">
                <a:solidFill>
                  <a:srgbClr val="FFFFFF"/>
                </a:solidFill>
                <a:latin typeface="Arial" pitchFamily="34" charset="0"/>
                <a:ea typeface="Arial" pitchFamily="34" charset="-122"/>
                <a:cs typeface="Arial" pitchFamily="34" charset="-120"/>
              </a:rPr>
              <a:t>4</a:t>
            </a:r>
            <a:endParaRPr lang="ar-SA" sz="1800" dirty="0"/>
          </a:p>
        </p:txBody>
      </p:sp>
      <p:sp>
        <p:nvSpPr>
          <p:cNvPr id="25" name="Text 23"/>
          <p:cNvSpPr txBox="1"/>
          <p:nvPr/>
        </p:nvSpPr>
        <p:spPr>
          <a:xfrm>
            <a:off x="679399" y="2029968"/>
            <a:ext cx="146304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يبدأ المشرف زياراته</a:t>
            </a:r>
            <a:endParaRPr lang="ar-SA" sz="1500" dirty="0"/>
          </a:p>
        </p:txBody>
      </p:sp>
      <p:sp>
        <p:nvSpPr>
          <p:cNvPr id="26" name="Text 24"/>
          <p:cNvSpPr txBox="1"/>
          <p:nvPr/>
        </p:nvSpPr>
        <p:spPr>
          <a:xfrm>
            <a:off x="679399" y="2697480"/>
            <a:ext cx="2148840" cy="14630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تظهر له محطاته فورًا، وتذهب زياراته للاعتماد إلى المساعد نفسه.</a:t>
            </a:r>
            <a:endParaRPr lang="ar-SA" sz="1200" dirty="0"/>
          </a:p>
        </p:txBody>
      </p:sp>
      <p:sp>
        <p:nvSpPr>
          <p:cNvPr id="27" name="Shape 25"/>
          <p:cNvSpPr/>
          <p:nvPr/>
        </p:nvSpPr>
        <p:spPr>
          <a:xfrm>
            <a:off x="6156655" y="4617720"/>
            <a:ext cx="5486400" cy="1463040"/>
          </a:xfrm>
          <a:prstGeom prst="roundRect">
            <a:avLst>
              <a:gd name="adj" fmla="val 875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28" name="Shape 26"/>
          <p:cNvSpPr/>
          <p:nvPr/>
        </p:nvSpPr>
        <p:spPr>
          <a:xfrm>
            <a:off x="10865815" y="4818888"/>
            <a:ext cx="548640" cy="548640"/>
          </a:xfrm>
          <a:prstGeom prst="ellipse">
            <a:avLst/>
          </a:prstGeom>
          <a:solidFill>
            <a:srgbClr val="E8F7EF"/>
          </a:solidFill>
          <a:ln w="12700">
            <a:solidFill>
              <a:srgbClr val="E8F7EF"/>
            </a:solidFill>
            <a:prstDash val="solid"/>
          </a:ln>
        </p:spPr>
      </p:sp>
      <p:pic>
        <p:nvPicPr>
          <p:cNvPr id="29" name="Image 0" descr="preencoded.png">    </p:cNvPr>
          <p:cNvPicPr>
            <a:picLocks noChangeAspect="1"/>
          </p:cNvPicPr>
          <p:nvPr/>
        </p:nvPicPr>
        <p:blipFill>
          <a:blip r:embed="rId1"/>
          <a:stretch>
            <a:fillRect/>
          </a:stretch>
        </p:blipFill>
        <p:spPr>
          <a:xfrm>
            <a:off x="11002975" y="4956048"/>
            <a:ext cx="274320" cy="274320"/>
          </a:xfrm>
          <a:prstGeom prst="rect">
            <a:avLst/>
          </a:prstGeom>
        </p:spPr>
      </p:pic>
      <p:sp>
        <p:nvSpPr>
          <p:cNvPr id="30" name="Text 27"/>
          <p:cNvSpPr txBox="1"/>
          <p:nvPr/>
        </p:nvSpPr>
        <p:spPr>
          <a:xfrm>
            <a:off x="6385255" y="481888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ما الذي اختُصر</a:t>
            </a:r>
            <a:endParaRPr lang="ar-SA" sz="1500" dirty="0"/>
          </a:p>
        </p:txBody>
      </p:sp>
      <p:sp>
        <p:nvSpPr>
          <p:cNvPr id="31" name="Text 28"/>
          <p:cNvSpPr txBox="1"/>
          <p:nvPr/>
        </p:nvSpPr>
        <p:spPr>
          <a:xfrm>
            <a:off x="6385255" y="5486400"/>
            <a:ext cx="5029200" cy="45720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لا طلب إسناد، ولا انتظار موافقة مدير العمليات، ولا ربط يدوي للمشرف بالمساعد. خطوة واحدة تُنجز الثلاثة.</a:t>
            </a:r>
            <a:endParaRPr lang="ar-SA" sz="1200" dirty="0"/>
          </a:p>
        </p:txBody>
      </p:sp>
      <p:sp>
        <p:nvSpPr>
          <p:cNvPr id="32" name="Shape 29"/>
          <p:cNvSpPr/>
          <p:nvPr/>
        </p:nvSpPr>
        <p:spPr>
          <a:xfrm>
            <a:off x="548640" y="4617720"/>
            <a:ext cx="5486400" cy="1463040"/>
          </a:xfrm>
          <a:prstGeom prst="roundRect">
            <a:avLst>
              <a:gd name="adj" fmla="val 875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33" name="Shape 30"/>
          <p:cNvSpPr/>
          <p:nvPr/>
        </p:nvSpPr>
        <p:spPr>
          <a:xfrm>
            <a:off x="5257800" y="4818888"/>
            <a:ext cx="548640" cy="548640"/>
          </a:xfrm>
          <a:prstGeom prst="ellipse">
            <a:avLst/>
          </a:prstGeom>
          <a:solidFill>
            <a:srgbClr val="EAF6FC"/>
          </a:solidFill>
          <a:ln w="12700">
            <a:solidFill>
              <a:srgbClr val="EAF6FC"/>
            </a:solidFill>
            <a:prstDash val="solid"/>
          </a:ln>
        </p:spPr>
      </p:sp>
      <p:pic>
        <p:nvPicPr>
          <p:cNvPr id="34" name="Image 1" descr="preencoded.png">    </p:cNvPr>
          <p:cNvPicPr>
            <a:picLocks noChangeAspect="1"/>
          </p:cNvPicPr>
          <p:nvPr/>
        </p:nvPicPr>
        <p:blipFill>
          <a:blip r:embed="rId2"/>
          <a:stretch>
            <a:fillRect/>
          </a:stretch>
        </p:blipFill>
        <p:spPr>
          <a:xfrm>
            <a:off x="5394960" y="4956048"/>
            <a:ext cx="274320" cy="274320"/>
          </a:xfrm>
          <a:prstGeom prst="rect">
            <a:avLst/>
          </a:prstGeom>
        </p:spPr>
      </p:pic>
      <p:sp>
        <p:nvSpPr>
          <p:cNvPr id="35" name="Text 31"/>
          <p:cNvSpPr txBox="1"/>
          <p:nvPr/>
        </p:nvSpPr>
        <p:spPr>
          <a:xfrm>
            <a:off x="777240" y="481888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من يستطيع الإسناد</a:t>
            </a:r>
            <a:endParaRPr lang="ar-SA" sz="1500" dirty="0"/>
          </a:p>
        </p:txBody>
      </p:sp>
      <p:sp>
        <p:nvSpPr>
          <p:cNvPr id="36" name="Text 32"/>
          <p:cNvSpPr txBox="1"/>
          <p:nvPr/>
        </p:nvSpPr>
        <p:spPr>
          <a:xfrm>
            <a:off x="777240" y="5486400"/>
            <a:ext cx="5029200" cy="45720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مساعد الإشراف لمشرفيه. مدير النظام ومدير العمليات أيضًا، مع اختيار مساعد الإشراف المسؤول عن المشرف.</a:t>
            </a:r>
            <a:endParaRPr lang="ar-SA" sz="1200" dirty="0"/>
          </a:p>
        </p:txBody>
      </p:sp>
      <p:sp>
        <p:nvSpPr>
          <p:cNvPr id="37" name="Text 33"/>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38" name="Text 34"/>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4</a:t>
            </a:r>
            <a:endParaRPr lang="ar-SA"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دورة الزيارة من البداية إلى الاعتماد</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ما يفعله مشرف المحطات وما يحدث بعده تلقائيًا</a:t>
            </a:r>
            <a:endParaRPr lang="ar-SA" sz="1500" dirty="0"/>
          </a:p>
        </p:txBody>
      </p:sp>
      <p:sp>
        <p:nvSpPr>
          <p:cNvPr id="4" name="Shape 2"/>
          <p:cNvSpPr/>
          <p:nvPr/>
        </p:nvSpPr>
        <p:spPr>
          <a:xfrm>
            <a:off x="10180015" y="1828800"/>
            <a:ext cx="822960" cy="822960"/>
          </a:xfrm>
          <a:prstGeom prst="ellipse">
            <a:avLst/>
          </a:prstGeom>
          <a:solidFill>
            <a:srgbClr val="EAF6FC"/>
          </a:solidFill>
          <a:ln w="12700">
            <a:solidFill>
              <a:srgbClr val="EAF6FC"/>
            </a:solidFill>
            <a:prstDash val="solid"/>
          </a:ln>
        </p:spPr>
      </p:sp>
      <p:pic>
        <p:nvPicPr>
          <p:cNvPr id="5" name="Image 0" descr="preencoded.png">    </p:cNvPr>
          <p:cNvPicPr>
            <a:picLocks noChangeAspect="1"/>
          </p:cNvPicPr>
          <p:nvPr/>
        </p:nvPicPr>
        <p:blipFill>
          <a:blip r:embed="rId1"/>
          <a:stretch>
            <a:fillRect/>
          </a:stretch>
        </p:blipFill>
        <p:spPr>
          <a:xfrm>
            <a:off x="10385755" y="2034540"/>
            <a:ext cx="411480" cy="411480"/>
          </a:xfrm>
          <a:prstGeom prst="rect">
            <a:avLst/>
          </a:prstGeom>
        </p:spPr>
      </p:pic>
      <p:sp>
        <p:nvSpPr>
          <p:cNvPr id="6" name="Shape 3"/>
          <p:cNvSpPr/>
          <p:nvPr/>
        </p:nvSpPr>
        <p:spPr>
          <a:xfrm>
            <a:off x="10774375" y="1783080"/>
            <a:ext cx="310896" cy="310896"/>
          </a:xfrm>
          <a:prstGeom prst="ellipse">
            <a:avLst/>
          </a:prstGeom>
          <a:solidFill>
            <a:srgbClr val="213E71"/>
          </a:solidFill>
          <a:ln w="12700">
            <a:solidFill>
              <a:srgbClr val="213E71"/>
            </a:solidFill>
            <a:prstDash val="solid"/>
          </a:ln>
        </p:spPr>
      </p:sp>
      <p:sp>
        <p:nvSpPr>
          <p:cNvPr id="7" name="Text 4"/>
          <p:cNvSpPr txBox="1"/>
          <p:nvPr/>
        </p:nvSpPr>
        <p:spPr>
          <a:xfrm>
            <a:off x="10774375" y="1783080"/>
            <a:ext cx="310896" cy="310896"/>
          </a:xfrm>
          <a:prstGeom prst="rect">
            <a:avLst/>
          </a:prstGeom>
          <a:noFill/>
          <a:ln/>
        </p:spPr>
        <p:txBody>
          <a:bodyPr wrap="square" lIns="0" tIns="0" rIns="0" bIns="0" rtlCol="0" anchor="ct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1</a:t>
            </a:r>
            <a:endParaRPr lang="ar-SA" sz="1100" dirty="0"/>
          </a:p>
        </p:txBody>
      </p:sp>
      <p:sp>
        <p:nvSpPr>
          <p:cNvPr id="8" name="Text 5"/>
          <p:cNvSpPr txBox="1"/>
          <p:nvPr/>
        </p:nvSpPr>
        <p:spPr>
          <a:xfrm>
            <a:off x="9539935" y="2788920"/>
            <a:ext cx="210312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يختار المحطة</a:t>
            </a:r>
            <a:endParaRPr lang="ar-SA" sz="1400" dirty="0"/>
          </a:p>
        </p:txBody>
      </p:sp>
      <p:sp>
        <p:nvSpPr>
          <p:cNvPr id="9" name="Text 6"/>
          <p:cNvSpPr txBox="1"/>
          <p:nvPr/>
        </p:nvSpPr>
        <p:spPr>
          <a:xfrm>
            <a:off x="9631375" y="3291840"/>
            <a:ext cx="1920240" cy="118872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من محطاته المسندة. تُفتح الزيارة المستحقة مباشرة.</a:t>
            </a:r>
            <a:endParaRPr lang="ar-SA" sz="1100" dirty="0"/>
          </a:p>
        </p:txBody>
      </p:sp>
      <p:sp>
        <p:nvSpPr>
          <p:cNvPr id="10" name="Shape 7"/>
          <p:cNvSpPr/>
          <p:nvPr/>
        </p:nvSpPr>
        <p:spPr>
          <a:xfrm>
            <a:off x="9357055" y="2103120"/>
            <a:ext cx="182880" cy="292608"/>
          </a:xfrm>
          <a:prstGeom prst="leftArrow">
            <a:avLst/>
          </a:prstGeom>
          <a:solidFill>
            <a:srgbClr val="D2ECF8"/>
          </a:solidFill>
          <a:ln w="12700">
            <a:solidFill>
              <a:srgbClr val="D2ECF8"/>
            </a:solidFill>
            <a:prstDash val="solid"/>
          </a:ln>
        </p:spPr>
      </p:sp>
      <p:sp>
        <p:nvSpPr>
          <p:cNvPr id="11" name="Shape 8"/>
          <p:cNvSpPr/>
          <p:nvPr/>
        </p:nvSpPr>
        <p:spPr>
          <a:xfrm>
            <a:off x="7894015" y="1828800"/>
            <a:ext cx="822960" cy="822960"/>
          </a:xfrm>
          <a:prstGeom prst="ellipse">
            <a:avLst/>
          </a:prstGeom>
          <a:solidFill>
            <a:srgbClr val="EAF6FC"/>
          </a:solidFill>
          <a:ln w="12700">
            <a:solidFill>
              <a:srgbClr val="EAF6FC"/>
            </a:solidFill>
            <a:prstDash val="solid"/>
          </a:ln>
        </p:spPr>
      </p:sp>
      <p:pic>
        <p:nvPicPr>
          <p:cNvPr id="12" name="Image 1" descr="preencoded.png">    </p:cNvPr>
          <p:cNvPicPr>
            <a:picLocks noChangeAspect="1"/>
          </p:cNvPicPr>
          <p:nvPr/>
        </p:nvPicPr>
        <p:blipFill>
          <a:blip r:embed="rId2"/>
          <a:stretch>
            <a:fillRect/>
          </a:stretch>
        </p:blipFill>
        <p:spPr>
          <a:xfrm>
            <a:off x="8099755" y="2034540"/>
            <a:ext cx="411480" cy="411480"/>
          </a:xfrm>
          <a:prstGeom prst="rect">
            <a:avLst/>
          </a:prstGeom>
        </p:spPr>
      </p:pic>
      <p:sp>
        <p:nvSpPr>
          <p:cNvPr id="13" name="Shape 9"/>
          <p:cNvSpPr/>
          <p:nvPr/>
        </p:nvSpPr>
        <p:spPr>
          <a:xfrm>
            <a:off x="8488375" y="1783080"/>
            <a:ext cx="310896" cy="310896"/>
          </a:xfrm>
          <a:prstGeom prst="ellipse">
            <a:avLst/>
          </a:prstGeom>
          <a:solidFill>
            <a:srgbClr val="213E71"/>
          </a:solidFill>
          <a:ln w="12700">
            <a:solidFill>
              <a:srgbClr val="213E71"/>
            </a:solidFill>
            <a:prstDash val="solid"/>
          </a:ln>
        </p:spPr>
      </p:sp>
      <p:sp>
        <p:nvSpPr>
          <p:cNvPr id="14" name="Text 10"/>
          <p:cNvSpPr txBox="1"/>
          <p:nvPr/>
        </p:nvSpPr>
        <p:spPr>
          <a:xfrm>
            <a:off x="8488375" y="1783080"/>
            <a:ext cx="310896" cy="310896"/>
          </a:xfrm>
          <a:prstGeom prst="rect">
            <a:avLst/>
          </a:prstGeom>
          <a:noFill/>
          <a:ln/>
        </p:spPr>
        <p:txBody>
          <a:bodyPr wrap="square" lIns="0" tIns="0" rIns="0" bIns="0" rtlCol="0" anchor="ct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2</a:t>
            </a:r>
            <a:endParaRPr lang="ar-SA" sz="1100" dirty="0"/>
          </a:p>
        </p:txBody>
      </p:sp>
      <p:sp>
        <p:nvSpPr>
          <p:cNvPr id="15" name="Text 11"/>
          <p:cNvSpPr txBox="1"/>
          <p:nvPr/>
        </p:nvSpPr>
        <p:spPr>
          <a:xfrm>
            <a:off x="7253935" y="2788920"/>
            <a:ext cx="210312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ينفّذ قائمة التحقق</a:t>
            </a:r>
            <a:endParaRPr lang="ar-SA" sz="1400" dirty="0"/>
          </a:p>
        </p:txBody>
      </p:sp>
      <p:sp>
        <p:nvSpPr>
          <p:cNvPr id="16" name="Text 12"/>
          <p:cNvSpPr txBox="1"/>
          <p:nvPr/>
        </p:nvSpPr>
        <p:spPr>
          <a:xfrm>
            <a:off x="7345375" y="3291840"/>
            <a:ext cx="1920240" cy="118872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بند بند: مطابق أو غير مطابق، مع صورة إلزامية عند عدم المطابقة.</a:t>
            </a:r>
            <a:endParaRPr lang="ar-SA" sz="1100" dirty="0"/>
          </a:p>
        </p:txBody>
      </p:sp>
      <p:sp>
        <p:nvSpPr>
          <p:cNvPr id="17" name="Shape 13"/>
          <p:cNvSpPr/>
          <p:nvPr/>
        </p:nvSpPr>
        <p:spPr>
          <a:xfrm>
            <a:off x="7071055" y="2103120"/>
            <a:ext cx="182880" cy="292608"/>
          </a:xfrm>
          <a:prstGeom prst="leftArrow">
            <a:avLst/>
          </a:prstGeom>
          <a:solidFill>
            <a:srgbClr val="D2ECF8"/>
          </a:solidFill>
          <a:ln w="12700">
            <a:solidFill>
              <a:srgbClr val="D2ECF8"/>
            </a:solidFill>
            <a:prstDash val="solid"/>
          </a:ln>
        </p:spPr>
      </p:sp>
      <p:sp>
        <p:nvSpPr>
          <p:cNvPr id="18" name="Shape 14"/>
          <p:cNvSpPr/>
          <p:nvPr/>
        </p:nvSpPr>
        <p:spPr>
          <a:xfrm>
            <a:off x="5608015" y="1828800"/>
            <a:ext cx="822960" cy="822960"/>
          </a:xfrm>
          <a:prstGeom prst="ellipse">
            <a:avLst/>
          </a:prstGeom>
          <a:solidFill>
            <a:srgbClr val="EAF6FC"/>
          </a:solidFill>
          <a:ln w="12700">
            <a:solidFill>
              <a:srgbClr val="EAF6FC"/>
            </a:solidFill>
            <a:prstDash val="solid"/>
          </a:ln>
        </p:spPr>
      </p:sp>
      <p:pic>
        <p:nvPicPr>
          <p:cNvPr id="19" name="Image 2" descr="preencoded.png">    </p:cNvPr>
          <p:cNvPicPr>
            <a:picLocks noChangeAspect="1"/>
          </p:cNvPicPr>
          <p:nvPr/>
        </p:nvPicPr>
        <p:blipFill>
          <a:blip r:embed="rId3"/>
          <a:stretch>
            <a:fillRect/>
          </a:stretch>
        </p:blipFill>
        <p:spPr>
          <a:xfrm>
            <a:off x="5813755" y="2034540"/>
            <a:ext cx="411480" cy="411480"/>
          </a:xfrm>
          <a:prstGeom prst="rect">
            <a:avLst/>
          </a:prstGeom>
        </p:spPr>
      </p:pic>
      <p:sp>
        <p:nvSpPr>
          <p:cNvPr id="20" name="Shape 15"/>
          <p:cNvSpPr/>
          <p:nvPr/>
        </p:nvSpPr>
        <p:spPr>
          <a:xfrm>
            <a:off x="6202375" y="1783080"/>
            <a:ext cx="310896" cy="310896"/>
          </a:xfrm>
          <a:prstGeom prst="ellipse">
            <a:avLst/>
          </a:prstGeom>
          <a:solidFill>
            <a:srgbClr val="213E71"/>
          </a:solidFill>
          <a:ln w="12700">
            <a:solidFill>
              <a:srgbClr val="213E71"/>
            </a:solidFill>
            <a:prstDash val="solid"/>
          </a:ln>
        </p:spPr>
      </p:sp>
      <p:sp>
        <p:nvSpPr>
          <p:cNvPr id="21" name="Text 16"/>
          <p:cNvSpPr txBox="1"/>
          <p:nvPr/>
        </p:nvSpPr>
        <p:spPr>
          <a:xfrm>
            <a:off x="6202375" y="1783080"/>
            <a:ext cx="310896" cy="310896"/>
          </a:xfrm>
          <a:prstGeom prst="rect">
            <a:avLst/>
          </a:prstGeom>
          <a:noFill/>
          <a:ln/>
        </p:spPr>
        <p:txBody>
          <a:bodyPr wrap="square" lIns="0" tIns="0" rIns="0" bIns="0" rtlCol="0" anchor="ct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3</a:t>
            </a:r>
            <a:endParaRPr lang="ar-SA" sz="1100" dirty="0"/>
          </a:p>
        </p:txBody>
      </p:sp>
      <p:sp>
        <p:nvSpPr>
          <p:cNvPr id="22" name="Text 17"/>
          <p:cNvSpPr txBox="1"/>
          <p:nvPr/>
        </p:nvSpPr>
        <p:spPr>
          <a:xfrm>
            <a:off x="4967935" y="2788920"/>
            <a:ext cx="210312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يرسل الزيارة</a:t>
            </a:r>
            <a:endParaRPr lang="ar-SA" sz="1400" dirty="0"/>
          </a:p>
        </p:txBody>
      </p:sp>
      <p:sp>
        <p:nvSpPr>
          <p:cNvPr id="23" name="Text 18"/>
          <p:cNvSpPr txBox="1"/>
          <p:nvPr/>
        </p:nvSpPr>
        <p:spPr>
          <a:xfrm>
            <a:off x="5059375" y="3291840"/>
            <a:ext cx="1920240" cy="118872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تُحسب النتيجة، وتذهب فورًا إلى مساعد الإشراف مع إشعار.</a:t>
            </a:r>
            <a:endParaRPr lang="ar-SA" sz="1100" dirty="0"/>
          </a:p>
        </p:txBody>
      </p:sp>
      <p:sp>
        <p:nvSpPr>
          <p:cNvPr id="24" name="Shape 19"/>
          <p:cNvSpPr/>
          <p:nvPr/>
        </p:nvSpPr>
        <p:spPr>
          <a:xfrm>
            <a:off x="4785055" y="2103120"/>
            <a:ext cx="182880" cy="292608"/>
          </a:xfrm>
          <a:prstGeom prst="leftArrow">
            <a:avLst/>
          </a:prstGeom>
          <a:solidFill>
            <a:srgbClr val="D2ECF8"/>
          </a:solidFill>
          <a:ln w="12700">
            <a:solidFill>
              <a:srgbClr val="D2ECF8"/>
            </a:solidFill>
            <a:prstDash val="solid"/>
          </a:ln>
        </p:spPr>
      </p:sp>
      <p:sp>
        <p:nvSpPr>
          <p:cNvPr id="25" name="Shape 20"/>
          <p:cNvSpPr/>
          <p:nvPr/>
        </p:nvSpPr>
        <p:spPr>
          <a:xfrm>
            <a:off x="3322015" y="1828800"/>
            <a:ext cx="822960" cy="822960"/>
          </a:xfrm>
          <a:prstGeom prst="ellipse">
            <a:avLst/>
          </a:prstGeom>
          <a:solidFill>
            <a:srgbClr val="E8F7EF"/>
          </a:solidFill>
          <a:ln w="12700">
            <a:solidFill>
              <a:srgbClr val="E8F7EF"/>
            </a:solidFill>
            <a:prstDash val="solid"/>
          </a:ln>
        </p:spPr>
      </p:sp>
      <p:pic>
        <p:nvPicPr>
          <p:cNvPr id="26" name="Image 3" descr="preencoded.png">    </p:cNvPr>
          <p:cNvPicPr>
            <a:picLocks noChangeAspect="1"/>
          </p:cNvPicPr>
          <p:nvPr/>
        </p:nvPicPr>
        <p:blipFill>
          <a:blip r:embed="rId4"/>
          <a:stretch>
            <a:fillRect/>
          </a:stretch>
        </p:blipFill>
        <p:spPr>
          <a:xfrm>
            <a:off x="3527755" y="2034540"/>
            <a:ext cx="411480" cy="411480"/>
          </a:xfrm>
          <a:prstGeom prst="rect">
            <a:avLst/>
          </a:prstGeom>
        </p:spPr>
      </p:pic>
      <p:sp>
        <p:nvSpPr>
          <p:cNvPr id="27" name="Shape 21"/>
          <p:cNvSpPr/>
          <p:nvPr/>
        </p:nvSpPr>
        <p:spPr>
          <a:xfrm>
            <a:off x="3916375" y="1783080"/>
            <a:ext cx="310896" cy="310896"/>
          </a:xfrm>
          <a:prstGeom prst="ellipse">
            <a:avLst/>
          </a:prstGeom>
          <a:solidFill>
            <a:srgbClr val="213E71"/>
          </a:solidFill>
          <a:ln w="12700">
            <a:solidFill>
              <a:srgbClr val="213E71"/>
            </a:solidFill>
            <a:prstDash val="solid"/>
          </a:ln>
        </p:spPr>
      </p:sp>
      <p:sp>
        <p:nvSpPr>
          <p:cNvPr id="28" name="Text 22"/>
          <p:cNvSpPr txBox="1"/>
          <p:nvPr/>
        </p:nvSpPr>
        <p:spPr>
          <a:xfrm>
            <a:off x="3916375" y="1783080"/>
            <a:ext cx="310896" cy="310896"/>
          </a:xfrm>
          <a:prstGeom prst="rect">
            <a:avLst/>
          </a:prstGeom>
          <a:noFill/>
          <a:ln/>
        </p:spPr>
        <p:txBody>
          <a:bodyPr wrap="square" lIns="0" tIns="0" rIns="0" bIns="0" rtlCol="0" anchor="ct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4</a:t>
            </a:r>
            <a:endParaRPr lang="ar-SA" sz="1100" dirty="0"/>
          </a:p>
        </p:txBody>
      </p:sp>
      <p:sp>
        <p:nvSpPr>
          <p:cNvPr id="29" name="Text 23"/>
          <p:cNvSpPr txBox="1"/>
          <p:nvPr/>
        </p:nvSpPr>
        <p:spPr>
          <a:xfrm>
            <a:off x="2681935" y="2788920"/>
            <a:ext cx="210312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يعتمد المساعد أو يرفض</a:t>
            </a:r>
            <a:endParaRPr lang="ar-SA" sz="1400" dirty="0"/>
          </a:p>
        </p:txBody>
      </p:sp>
      <p:sp>
        <p:nvSpPr>
          <p:cNvPr id="30" name="Text 24"/>
          <p:cNvSpPr txBox="1"/>
          <p:nvPr/>
        </p:nvSpPr>
        <p:spPr>
          <a:xfrm>
            <a:off x="2773375" y="3291840"/>
            <a:ext cx="1920240" cy="118872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الاعتماد يولّد ملاحظة لكل بند غير مطابق. الرفض يعيدها للمشرف مع السبب.</a:t>
            </a:r>
            <a:endParaRPr lang="ar-SA" sz="1100" dirty="0"/>
          </a:p>
        </p:txBody>
      </p:sp>
      <p:sp>
        <p:nvSpPr>
          <p:cNvPr id="31" name="Shape 25"/>
          <p:cNvSpPr/>
          <p:nvPr/>
        </p:nvSpPr>
        <p:spPr>
          <a:xfrm>
            <a:off x="2499055" y="2103120"/>
            <a:ext cx="182880" cy="292608"/>
          </a:xfrm>
          <a:prstGeom prst="leftArrow">
            <a:avLst/>
          </a:prstGeom>
          <a:solidFill>
            <a:srgbClr val="D2ECF8"/>
          </a:solidFill>
          <a:ln w="12700">
            <a:solidFill>
              <a:srgbClr val="D2ECF8"/>
            </a:solidFill>
            <a:prstDash val="solid"/>
          </a:ln>
        </p:spPr>
      </p:sp>
      <p:sp>
        <p:nvSpPr>
          <p:cNvPr id="32" name="Shape 26"/>
          <p:cNvSpPr/>
          <p:nvPr/>
        </p:nvSpPr>
        <p:spPr>
          <a:xfrm>
            <a:off x="1036015" y="1828800"/>
            <a:ext cx="822960" cy="822960"/>
          </a:xfrm>
          <a:prstGeom prst="ellipse">
            <a:avLst/>
          </a:prstGeom>
          <a:solidFill>
            <a:srgbClr val="EAF6FC"/>
          </a:solidFill>
          <a:ln w="12700">
            <a:solidFill>
              <a:srgbClr val="EAF6FC"/>
            </a:solidFill>
            <a:prstDash val="solid"/>
          </a:ln>
        </p:spPr>
      </p:sp>
      <p:pic>
        <p:nvPicPr>
          <p:cNvPr id="33" name="Image 4" descr="preencoded.png">    </p:cNvPr>
          <p:cNvPicPr>
            <a:picLocks noChangeAspect="1"/>
          </p:cNvPicPr>
          <p:nvPr/>
        </p:nvPicPr>
        <p:blipFill>
          <a:blip r:embed="rId5"/>
          <a:stretch>
            <a:fillRect/>
          </a:stretch>
        </p:blipFill>
        <p:spPr>
          <a:xfrm>
            <a:off x="1241755" y="2034540"/>
            <a:ext cx="411480" cy="411480"/>
          </a:xfrm>
          <a:prstGeom prst="rect">
            <a:avLst/>
          </a:prstGeom>
        </p:spPr>
      </p:pic>
      <p:sp>
        <p:nvSpPr>
          <p:cNvPr id="34" name="Shape 27"/>
          <p:cNvSpPr/>
          <p:nvPr/>
        </p:nvSpPr>
        <p:spPr>
          <a:xfrm>
            <a:off x="1630375" y="1783080"/>
            <a:ext cx="310896" cy="310896"/>
          </a:xfrm>
          <a:prstGeom prst="ellipse">
            <a:avLst/>
          </a:prstGeom>
          <a:solidFill>
            <a:srgbClr val="213E71"/>
          </a:solidFill>
          <a:ln w="12700">
            <a:solidFill>
              <a:srgbClr val="213E71"/>
            </a:solidFill>
            <a:prstDash val="solid"/>
          </a:ln>
        </p:spPr>
      </p:sp>
      <p:sp>
        <p:nvSpPr>
          <p:cNvPr id="35" name="Text 28"/>
          <p:cNvSpPr txBox="1"/>
          <p:nvPr/>
        </p:nvSpPr>
        <p:spPr>
          <a:xfrm>
            <a:off x="1630375" y="1783080"/>
            <a:ext cx="310896" cy="310896"/>
          </a:xfrm>
          <a:prstGeom prst="rect">
            <a:avLst/>
          </a:prstGeom>
          <a:noFill/>
          <a:ln/>
        </p:spPr>
        <p:txBody>
          <a:bodyPr wrap="square" lIns="0" tIns="0" rIns="0" bIns="0" rtlCol="0" anchor="ct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5</a:t>
            </a:r>
            <a:endParaRPr lang="ar-SA" sz="1100" dirty="0"/>
          </a:p>
        </p:txBody>
      </p:sp>
      <p:sp>
        <p:nvSpPr>
          <p:cNvPr id="36" name="Text 29"/>
          <p:cNvSpPr txBox="1"/>
          <p:nvPr/>
        </p:nvSpPr>
        <p:spPr>
          <a:xfrm>
            <a:off x="395935" y="2788920"/>
            <a:ext cx="2103120" cy="457200"/>
          </a:xfrm>
          <a:prstGeom prst="rect">
            <a:avLst/>
          </a:prstGeom>
          <a:noFill/>
          <a:ln/>
        </p:spPr>
        <p:txBody>
          <a:bodyPr wrap="square" lIns="0" tIns="0" rIns="0" bIns="0" rtlCol="0" anchor="ctr"/>
          <a:lstStyle/>
          <a:p>
            <a:pPr rtl="1" algn="ctr" indent="0" marL="0">
              <a:buNone/>
            </a:pPr>
            <a:r>
              <a:rPr lang="ar-SA" altLang="en-US" sz="1400" b="1" dirty="0">
                <a:solidFill>
                  <a:srgbClr val="213E71"/>
                </a:solidFill>
                <a:latin typeface="Arial" pitchFamily="34" charset="0"/>
                <a:ea typeface="Arial" pitchFamily="34" charset="-122"/>
                <a:cs typeface="Arial" pitchFamily="34" charset="-120"/>
              </a:rPr>
              <a:t>تُعالج الملاحظات</a:t>
            </a:r>
            <a:endParaRPr lang="ar-SA" sz="1400" dirty="0"/>
          </a:p>
        </p:txBody>
      </p:sp>
      <p:sp>
        <p:nvSpPr>
          <p:cNvPr id="37" name="Text 30"/>
          <p:cNvSpPr txBox="1"/>
          <p:nvPr/>
        </p:nvSpPr>
        <p:spPr>
          <a:xfrm>
            <a:off x="487375" y="3291840"/>
            <a:ext cx="1920240" cy="1188720"/>
          </a:xfrm>
          <a:prstGeom prst="rect">
            <a:avLst/>
          </a:prstGeom>
          <a:noFill/>
          <a:ln/>
        </p:spPr>
        <p:txBody>
          <a:bodyPr wrap="square" lIns="0" tIns="0" rIns="0" bIns="0" rtlCol="0" anchor="t"/>
          <a:lstStyle/>
          <a:p>
            <a:pPr rtl="1" algn="ct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المشرف يرفع المعالجة بصورة، والمساعد يتحقق ويغلق أو يعيد.</a:t>
            </a:r>
            <a:endParaRPr lang="ar-SA" sz="1100" dirty="0"/>
          </a:p>
        </p:txBody>
      </p:sp>
      <p:sp>
        <p:nvSpPr>
          <p:cNvPr id="38" name="Shape 31"/>
          <p:cNvSpPr/>
          <p:nvPr/>
        </p:nvSpPr>
        <p:spPr>
          <a:xfrm>
            <a:off x="548640" y="4709160"/>
            <a:ext cx="11094415" cy="1325880"/>
          </a:xfrm>
          <a:prstGeom prst="roundRect">
            <a:avLst>
              <a:gd name="adj" fmla="val 8276"/>
            </a:avLst>
          </a:prstGeom>
          <a:solidFill>
            <a:srgbClr val="F8FAFC"/>
          </a:solidFill>
          <a:ln w="9525">
            <a:solidFill>
              <a:srgbClr val="E3E9EE"/>
            </a:solidFill>
            <a:prstDash val="solid"/>
          </a:ln>
        </p:spPr>
      </p:sp>
      <p:sp>
        <p:nvSpPr>
          <p:cNvPr id="39" name="Text 32"/>
          <p:cNvSpPr txBox="1"/>
          <p:nvPr/>
        </p:nvSpPr>
        <p:spPr>
          <a:xfrm>
            <a:off x="8671255" y="4846320"/>
            <a:ext cx="2743200" cy="365760"/>
          </a:xfrm>
          <a:prstGeom prst="rect">
            <a:avLst/>
          </a:prstGeom>
          <a:noFill/>
          <a:ln/>
        </p:spPr>
        <p:txBody>
          <a:bodyPr wrap="square" lIns="0" tIns="0" rIns="0" bIns="0" rtlCol="0" anchor="ctr"/>
          <a:lstStyle/>
          <a:p>
            <a:pPr rtl="1" algn="r" indent="0" marL="0">
              <a:buNone/>
            </a:pPr>
            <a:r>
              <a:rPr lang="ar-SA" altLang="en-US" sz="1300" b="1" dirty="0">
                <a:solidFill>
                  <a:srgbClr val="213E71"/>
                </a:solidFill>
                <a:latin typeface="Arial" pitchFamily="34" charset="0"/>
                <a:ea typeface="Arial" pitchFamily="34" charset="-122"/>
                <a:cs typeface="Arial" pitchFamily="34" charset="-120"/>
              </a:rPr>
              <a:t>الموقع والصور</a:t>
            </a:r>
            <a:endParaRPr lang="ar-SA" sz="1300" dirty="0"/>
          </a:p>
        </p:txBody>
      </p:sp>
      <p:sp>
        <p:nvSpPr>
          <p:cNvPr id="40" name="Text 33"/>
          <p:cNvSpPr txBox="1"/>
          <p:nvPr/>
        </p:nvSpPr>
        <p:spPr>
          <a:xfrm>
            <a:off x="777240" y="5212080"/>
            <a:ext cx="10637215" cy="73152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172A3A"/>
                </a:solidFill>
                <a:latin typeface="Arial" pitchFamily="34" charset="0"/>
                <a:ea typeface="Arial" pitchFamily="34" charset="-122"/>
                <a:cs typeface="Arial" pitchFamily="34" charset="-120"/>
              </a:rPr>
              <a:t>تُوثَّق كل زيارة بالموقع لحظة بدئها وتُقارن بموقع المحطة، ويرى النتيجة مدير النظام ومدير العمليات فقط. المشرف لا يُخبَر بذلك، ولا يرى سوى «جارٍ تجهيز الزيارة». الصور تُحفظ في Drive مربوطة بالبند والزيارة.</a:t>
            </a:r>
            <a:endParaRPr lang="ar-SA" sz="1200" dirty="0"/>
          </a:p>
        </p:txBody>
      </p:sp>
      <p:sp>
        <p:nvSpPr>
          <p:cNvPr id="41" name="Text 34"/>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42" name="Text 35"/>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5</a:t>
            </a:r>
            <a:endParaRPr lang="ar-SA"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أنواع الزيارات وقفل الأولوية</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اليومية إلزامية، وتُقفل مؤقتًا عندما تحين الأسبوعية أو الشهرية</a:t>
            </a:r>
            <a:endParaRPr lang="ar-SA" sz="1500" dirty="0"/>
          </a:p>
        </p:txBody>
      </p:sp>
      <p:sp>
        <p:nvSpPr>
          <p:cNvPr id="4" name="Shape 2"/>
          <p:cNvSpPr/>
          <p:nvPr/>
        </p:nvSpPr>
        <p:spPr>
          <a:xfrm>
            <a:off x="7985455" y="1783080"/>
            <a:ext cx="3474720" cy="2514600"/>
          </a:xfrm>
          <a:prstGeom prst="roundRect">
            <a:avLst>
              <a:gd name="adj" fmla="val 5091"/>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682935" y="1984248"/>
            <a:ext cx="548640" cy="548640"/>
          </a:xfrm>
          <a:prstGeom prst="ellipse">
            <a:avLst/>
          </a:prstGeom>
          <a:solidFill>
            <a:srgbClr val="EAF6FC"/>
          </a:solidFill>
          <a:ln w="12700">
            <a:solidFill>
              <a:srgbClr val="EAF6FC"/>
            </a:solidFill>
            <a:prstDash val="solid"/>
          </a:ln>
        </p:spPr>
      </p:sp>
      <p:pic>
        <p:nvPicPr>
          <p:cNvPr id="6" name="Image 0" descr="preencoded.png">    </p:cNvPr>
          <p:cNvPicPr>
            <a:picLocks noChangeAspect="1"/>
          </p:cNvPicPr>
          <p:nvPr/>
        </p:nvPicPr>
        <p:blipFill>
          <a:blip r:embed="rId1"/>
          <a:stretch>
            <a:fillRect/>
          </a:stretch>
        </p:blipFill>
        <p:spPr>
          <a:xfrm>
            <a:off x="10820095" y="2121408"/>
            <a:ext cx="274320" cy="274320"/>
          </a:xfrm>
          <a:prstGeom prst="rect">
            <a:avLst/>
          </a:prstGeom>
        </p:spPr>
      </p:pic>
      <p:sp>
        <p:nvSpPr>
          <p:cNvPr id="7" name="Text 4"/>
          <p:cNvSpPr txBox="1"/>
          <p:nvPr/>
        </p:nvSpPr>
        <p:spPr>
          <a:xfrm>
            <a:off x="8214055" y="1984248"/>
            <a:ext cx="233172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اليومية</a:t>
            </a:r>
            <a:endParaRPr lang="ar-SA" sz="1500" dirty="0"/>
          </a:p>
        </p:txBody>
      </p:sp>
      <p:sp>
        <p:nvSpPr>
          <p:cNvPr id="8" name="Text 5"/>
          <p:cNvSpPr txBox="1"/>
          <p:nvPr/>
        </p:nvSpPr>
        <p:spPr>
          <a:xfrm>
            <a:off x="8214055" y="2651760"/>
            <a:ext cx="3017520" cy="150876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متاحة كل يوم</a:t>
            </a:r>
            <a:endParaRPr lang="ar-SA" sz="1200" dirty="0"/>
          </a:p>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تُقفل فقط أثناء استحقاق زيارة دورية، وتُفتح فور إرسالها.</a:t>
            </a:r>
            <a:endParaRPr lang="ar-SA" sz="1200" dirty="0"/>
          </a:p>
        </p:txBody>
      </p:sp>
      <p:sp>
        <p:nvSpPr>
          <p:cNvPr id="9" name="Shape 6"/>
          <p:cNvSpPr/>
          <p:nvPr/>
        </p:nvSpPr>
        <p:spPr>
          <a:xfrm>
            <a:off x="4327855" y="1783080"/>
            <a:ext cx="3474720" cy="2514600"/>
          </a:xfrm>
          <a:prstGeom prst="roundRect">
            <a:avLst>
              <a:gd name="adj" fmla="val 5091"/>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0" name="Shape 7"/>
          <p:cNvSpPr/>
          <p:nvPr/>
        </p:nvSpPr>
        <p:spPr>
          <a:xfrm>
            <a:off x="7025335" y="1984248"/>
            <a:ext cx="548640" cy="548640"/>
          </a:xfrm>
          <a:prstGeom prst="ellipse">
            <a:avLst/>
          </a:prstGeom>
          <a:solidFill>
            <a:srgbClr val="FFF5E6"/>
          </a:solidFill>
          <a:ln w="12700">
            <a:solidFill>
              <a:srgbClr val="FFF5E6"/>
            </a:solidFill>
            <a:prstDash val="solid"/>
          </a:ln>
        </p:spPr>
      </p:sp>
      <p:pic>
        <p:nvPicPr>
          <p:cNvPr id="11" name="Image 1" descr="preencoded.png">    </p:cNvPr>
          <p:cNvPicPr>
            <a:picLocks noChangeAspect="1"/>
          </p:cNvPicPr>
          <p:nvPr/>
        </p:nvPicPr>
        <p:blipFill>
          <a:blip r:embed="rId2"/>
          <a:stretch>
            <a:fillRect/>
          </a:stretch>
        </p:blipFill>
        <p:spPr>
          <a:xfrm>
            <a:off x="7162495" y="2121408"/>
            <a:ext cx="274320" cy="274320"/>
          </a:xfrm>
          <a:prstGeom prst="rect">
            <a:avLst/>
          </a:prstGeom>
        </p:spPr>
      </p:pic>
      <p:sp>
        <p:nvSpPr>
          <p:cNvPr id="12" name="Text 8"/>
          <p:cNvSpPr txBox="1"/>
          <p:nvPr/>
        </p:nvSpPr>
        <p:spPr>
          <a:xfrm>
            <a:off x="4556455" y="1984248"/>
            <a:ext cx="233172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الأسبوعية</a:t>
            </a:r>
            <a:endParaRPr lang="ar-SA" sz="1500" dirty="0"/>
          </a:p>
        </p:txBody>
      </p:sp>
      <p:sp>
        <p:nvSpPr>
          <p:cNvPr id="13" name="Text 9"/>
          <p:cNvSpPr txBox="1"/>
          <p:nvPr/>
        </p:nvSpPr>
        <p:spPr>
          <a:xfrm>
            <a:off x="4556455" y="2651760"/>
            <a:ext cx="3017520" cy="150876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كل ٧ أيام من أول زيارة</a:t>
            </a:r>
            <a:endParaRPr lang="ar-SA" sz="1200" dirty="0"/>
          </a:p>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عند استحقاقها تظهر رسالة «حان وقت الزيارة الأسبوعية» ويدخلها المشرف مباشرة.</a:t>
            </a:r>
            <a:endParaRPr lang="ar-SA" sz="1200" dirty="0"/>
          </a:p>
        </p:txBody>
      </p:sp>
      <p:sp>
        <p:nvSpPr>
          <p:cNvPr id="14" name="Shape 10"/>
          <p:cNvSpPr/>
          <p:nvPr/>
        </p:nvSpPr>
        <p:spPr>
          <a:xfrm>
            <a:off x="670255" y="1783080"/>
            <a:ext cx="3474720" cy="2514600"/>
          </a:xfrm>
          <a:prstGeom prst="roundRect">
            <a:avLst>
              <a:gd name="adj" fmla="val 5091"/>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5" name="Shape 11"/>
          <p:cNvSpPr/>
          <p:nvPr/>
        </p:nvSpPr>
        <p:spPr>
          <a:xfrm>
            <a:off x="3367735" y="1984248"/>
            <a:ext cx="548640" cy="548640"/>
          </a:xfrm>
          <a:prstGeom prst="ellipse">
            <a:avLst/>
          </a:prstGeom>
          <a:solidFill>
            <a:srgbClr val="E8F7EF"/>
          </a:solidFill>
          <a:ln w="12700">
            <a:solidFill>
              <a:srgbClr val="E8F7EF"/>
            </a:solidFill>
            <a:prstDash val="solid"/>
          </a:ln>
        </p:spPr>
      </p:sp>
      <p:pic>
        <p:nvPicPr>
          <p:cNvPr id="16" name="Image 2" descr="preencoded.png">    </p:cNvPr>
          <p:cNvPicPr>
            <a:picLocks noChangeAspect="1"/>
          </p:cNvPicPr>
          <p:nvPr/>
        </p:nvPicPr>
        <p:blipFill>
          <a:blip r:embed="rId3"/>
          <a:stretch>
            <a:fillRect/>
          </a:stretch>
        </p:blipFill>
        <p:spPr>
          <a:xfrm>
            <a:off x="3504895" y="2121408"/>
            <a:ext cx="274320" cy="274320"/>
          </a:xfrm>
          <a:prstGeom prst="rect">
            <a:avLst/>
          </a:prstGeom>
        </p:spPr>
      </p:pic>
      <p:sp>
        <p:nvSpPr>
          <p:cNvPr id="17" name="Text 12"/>
          <p:cNvSpPr txBox="1"/>
          <p:nvPr/>
        </p:nvSpPr>
        <p:spPr>
          <a:xfrm>
            <a:off x="898855" y="1984248"/>
            <a:ext cx="233172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الشهرية</a:t>
            </a:r>
            <a:endParaRPr lang="ar-SA" sz="1500" dirty="0"/>
          </a:p>
        </p:txBody>
      </p:sp>
      <p:sp>
        <p:nvSpPr>
          <p:cNvPr id="18" name="Text 13"/>
          <p:cNvSpPr txBox="1"/>
          <p:nvPr/>
        </p:nvSpPr>
        <p:spPr>
          <a:xfrm>
            <a:off x="898855" y="2651760"/>
            <a:ext cx="3017520" cy="150876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كل ٣٠ يومًا من أول زيارة</a:t>
            </a:r>
            <a:endParaRPr lang="ar-SA" sz="1200" dirty="0"/>
          </a:p>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تغطي الأسبوعية: عند استحقاقها تُقفل اليومية والأسبوعية معًا حتى إرسالها.</a:t>
            </a:r>
            <a:endParaRPr lang="ar-SA" sz="1200" dirty="0"/>
          </a:p>
        </p:txBody>
      </p:sp>
      <p:sp>
        <p:nvSpPr>
          <p:cNvPr id="19" name="Shape 14"/>
          <p:cNvSpPr/>
          <p:nvPr/>
        </p:nvSpPr>
        <p:spPr>
          <a:xfrm>
            <a:off x="548640" y="4572000"/>
            <a:ext cx="11094415" cy="1508760"/>
          </a:xfrm>
          <a:prstGeom prst="roundRect">
            <a:avLst>
              <a:gd name="adj" fmla="val 7273"/>
            </a:avLst>
          </a:prstGeom>
          <a:solidFill>
            <a:srgbClr val="F8FAFC"/>
          </a:solidFill>
          <a:ln w="9525">
            <a:solidFill>
              <a:srgbClr val="E3E9EE"/>
            </a:solidFill>
            <a:prstDash val="solid"/>
          </a:ln>
        </p:spPr>
      </p:sp>
      <p:sp>
        <p:nvSpPr>
          <p:cNvPr id="20" name="Text 15"/>
          <p:cNvSpPr txBox="1"/>
          <p:nvPr/>
        </p:nvSpPr>
        <p:spPr>
          <a:xfrm>
            <a:off x="8671255" y="4663440"/>
            <a:ext cx="2743200" cy="365760"/>
          </a:xfrm>
          <a:prstGeom prst="rect">
            <a:avLst/>
          </a:prstGeom>
          <a:noFill/>
          <a:ln/>
        </p:spPr>
        <p:txBody>
          <a:bodyPr wrap="square" lIns="0" tIns="0" rIns="0" bIns="0" rtlCol="0" anchor="ctr"/>
          <a:lstStyle/>
          <a:p>
            <a:pPr rtl="1" algn="r" indent="0" marL="0">
              <a:buNone/>
            </a:pPr>
            <a:r>
              <a:rPr lang="ar-SA" altLang="en-US" sz="1300" b="1" dirty="0">
                <a:solidFill>
                  <a:srgbClr val="213E71"/>
                </a:solidFill>
                <a:latin typeface="Arial" pitchFamily="34" charset="0"/>
                <a:ea typeface="Arial" pitchFamily="34" charset="-122"/>
                <a:cs typeface="Arial" pitchFamily="34" charset="-120"/>
              </a:rPr>
              <a:t>مثال على شهر واحد</a:t>
            </a:r>
            <a:endParaRPr lang="ar-SA" sz="1300" dirty="0"/>
          </a:p>
        </p:txBody>
      </p:sp>
      <p:sp>
        <p:nvSpPr>
          <p:cNvPr id="21" name="Shape 16"/>
          <p:cNvSpPr/>
          <p:nvPr/>
        </p:nvSpPr>
        <p:spPr>
          <a:xfrm>
            <a:off x="868680" y="5559552"/>
            <a:ext cx="10454335" cy="0"/>
          </a:xfrm>
          <a:prstGeom prst="line">
            <a:avLst/>
          </a:prstGeom>
          <a:noFill/>
          <a:ln w="25400">
            <a:solidFill>
              <a:srgbClr val="E3E9EE"/>
            </a:solidFill>
            <a:prstDash val="solid"/>
          </a:ln>
        </p:spPr>
      </p:sp>
      <p:sp>
        <p:nvSpPr>
          <p:cNvPr id="22" name="Shape 17"/>
          <p:cNvSpPr/>
          <p:nvPr/>
        </p:nvSpPr>
        <p:spPr>
          <a:xfrm>
            <a:off x="11263579" y="5500116"/>
            <a:ext cx="118872" cy="118872"/>
          </a:xfrm>
          <a:prstGeom prst="ellipse">
            <a:avLst/>
          </a:prstGeom>
          <a:solidFill>
            <a:srgbClr val="009DDF"/>
          </a:solidFill>
          <a:ln w="12700">
            <a:solidFill>
              <a:srgbClr val="009DDF"/>
            </a:solidFill>
            <a:prstDash val="solid"/>
          </a:ln>
        </p:spPr>
      </p:sp>
      <p:sp>
        <p:nvSpPr>
          <p:cNvPr id="23" name="Shape 18"/>
          <p:cNvSpPr/>
          <p:nvPr/>
        </p:nvSpPr>
        <p:spPr>
          <a:xfrm>
            <a:off x="10903085" y="5500116"/>
            <a:ext cx="118872" cy="118872"/>
          </a:xfrm>
          <a:prstGeom prst="ellipse">
            <a:avLst/>
          </a:prstGeom>
          <a:solidFill>
            <a:srgbClr val="009DDF"/>
          </a:solidFill>
          <a:ln w="12700">
            <a:solidFill>
              <a:srgbClr val="009DDF"/>
            </a:solidFill>
            <a:prstDash val="solid"/>
          </a:ln>
        </p:spPr>
      </p:sp>
      <p:sp>
        <p:nvSpPr>
          <p:cNvPr id="24" name="Shape 19"/>
          <p:cNvSpPr/>
          <p:nvPr/>
        </p:nvSpPr>
        <p:spPr>
          <a:xfrm>
            <a:off x="10542591" y="5500116"/>
            <a:ext cx="118872" cy="118872"/>
          </a:xfrm>
          <a:prstGeom prst="ellipse">
            <a:avLst/>
          </a:prstGeom>
          <a:solidFill>
            <a:srgbClr val="009DDF"/>
          </a:solidFill>
          <a:ln w="12700">
            <a:solidFill>
              <a:srgbClr val="009DDF"/>
            </a:solidFill>
            <a:prstDash val="solid"/>
          </a:ln>
        </p:spPr>
      </p:sp>
      <p:sp>
        <p:nvSpPr>
          <p:cNvPr id="25" name="Shape 20"/>
          <p:cNvSpPr/>
          <p:nvPr/>
        </p:nvSpPr>
        <p:spPr>
          <a:xfrm>
            <a:off x="10182096" y="5500116"/>
            <a:ext cx="118872" cy="118872"/>
          </a:xfrm>
          <a:prstGeom prst="ellipse">
            <a:avLst/>
          </a:prstGeom>
          <a:solidFill>
            <a:srgbClr val="009DDF"/>
          </a:solidFill>
          <a:ln w="12700">
            <a:solidFill>
              <a:srgbClr val="009DDF"/>
            </a:solidFill>
            <a:prstDash val="solid"/>
          </a:ln>
        </p:spPr>
      </p:sp>
      <p:sp>
        <p:nvSpPr>
          <p:cNvPr id="26" name="Shape 21"/>
          <p:cNvSpPr/>
          <p:nvPr/>
        </p:nvSpPr>
        <p:spPr>
          <a:xfrm>
            <a:off x="9821602" y="5500116"/>
            <a:ext cx="118872" cy="118872"/>
          </a:xfrm>
          <a:prstGeom prst="ellipse">
            <a:avLst/>
          </a:prstGeom>
          <a:solidFill>
            <a:srgbClr val="009DDF"/>
          </a:solidFill>
          <a:ln w="12700">
            <a:solidFill>
              <a:srgbClr val="009DDF"/>
            </a:solidFill>
            <a:prstDash val="solid"/>
          </a:ln>
        </p:spPr>
      </p:sp>
      <p:sp>
        <p:nvSpPr>
          <p:cNvPr id="27" name="Shape 22"/>
          <p:cNvSpPr/>
          <p:nvPr/>
        </p:nvSpPr>
        <p:spPr>
          <a:xfrm>
            <a:off x="9461108" y="5500116"/>
            <a:ext cx="118872" cy="118872"/>
          </a:xfrm>
          <a:prstGeom prst="ellipse">
            <a:avLst/>
          </a:prstGeom>
          <a:solidFill>
            <a:srgbClr val="009DDF"/>
          </a:solidFill>
          <a:ln w="12700">
            <a:solidFill>
              <a:srgbClr val="009DDF"/>
            </a:solidFill>
            <a:prstDash val="solid"/>
          </a:ln>
        </p:spPr>
      </p:sp>
      <p:sp>
        <p:nvSpPr>
          <p:cNvPr id="28" name="Shape 23"/>
          <p:cNvSpPr/>
          <p:nvPr/>
        </p:nvSpPr>
        <p:spPr>
          <a:xfrm>
            <a:off x="9050321" y="5449824"/>
            <a:ext cx="219456" cy="219456"/>
          </a:xfrm>
          <a:prstGeom prst="ellipse">
            <a:avLst/>
          </a:prstGeom>
          <a:solidFill>
            <a:srgbClr val="C7780F"/>
          </a:solidFill>
          <a:ln w="12700">
            <a:solidFill>
              <a:srgbClr val="C7780F"/>
            </a:solidFill>
            <a:prstDash val="solid"/>
          </a:ln>
        </p:spPr>
      </p:sp>
      <p:sp>
        <p:nvSpPr>
          <p:cNvPr id="29" name="Shape 24"/>
          <p:cNvSpPr/>
          <p:nvPr/>
        </p:nvSpPr>
        <p:spPr>
          <a:xfrm>
            <a:off x="8740119" y="5500116"/>
            <a:ext cx="118872" cy="118872"/>
          </a:xfrm>
          <a:prstGeom prst="ellipse">
            <a:avLst/>
          </a:prstGeom>
          <a:solidFill>
            <a:srgbClr val="009DDF"/>
          </a:solidFill>
          <a:ln w="12700">
            <a:solidFill>
              <a:srgbClr val="009DDF"/>
            </a:solidFill>
            <a:prstDash val="solid"/>
          </a:ln>
        </p:spPr>
      </p:sp>
      <p:sp>
        <p:nvSpPr>
          <p:cNvPr id="30" name="Shape 25"/>
          <p:cNvSpPr/>
          <p:nvPr/>
        </p:nvSpPr>
        <p:spPr>
          <a:xfrm>
            <a:off x="8379625" y="5500116"/>
            <a:ext cx="118872" cy="118872"/>
          </a:xfrm>
          <a:prstGeom prst="ellipse">
            <a:avLst/>
          </a:prstGeom>
          <a:solidFill>
            <a:srgbClr val="009DDF"/>
          </a:solidFill>
          <a:ln w="12700">
            <a:solidFill>
              <a:srgbClr val="009DDF"/>
            </a:solidFill>
            <a:prstDash val="solid"/>
          </a:ln>
        </p:spPr>
      </p:sp>
      <p:sp>
        <p:nvSpPr>
          <p:cNvPr id="31" name="Shape 26"/>
          <p:cNvSpPr/>
          <p:nvPr/>
        </p:nvSpPr>
        <p:spPr>
          <a:xfrm>
            <a:off x="8019130" y="5500116"/>
            <a:ext cx="118872" cy="118872"/>
          </a:xfrm>
          <a:prstGeom prst="ellipse">
            <a:avLst/>
          </a:prstGeom>
          <a:solidFill>
            <a:srgbClr val="009DDF"/>
          </a:solidFill>
          <a:ln w="12700">
            <a:solidFill>
              <a:srgbClr val="009DDF"/>
            </a:solidFill>
            <a:prstDash val="solid"/>
          </a:ln>
        </p:spPr>
      </p:sp>
      <p:sp>
        <p:nvSpPr>
          <p:cNvPr id="32" name="Shape 27"/>
          <p:cNvSpPr/>
          <p:nvPr/>
        </p:nvSpPr>
        <p:spPr>
          <a:xfrm>
            <a:off x="7658636" y="5500116"/>
            <a:ext cx="118872" cy="118872"/>
          </a:xfrm>
          <a:prstGeom prst="ellipse">
            <a:avLst/>
          </a:prstGeom>
          <a:solidFill>
            <a:srgbClr val="009DDF"/>
          </a:solidFill>
          <a:ln w="12700">
            <a:solidFill>
              <a:srgbClr val="009DDF"/>
            </a:solidFill>
            <a:prstDash val="solid"/>
          </a:ln>
        </p:spPr>
      </p:sp>
      <p:sp>
        <p:nvSpPr>
          <p:cNvPr id="33" name="Shape 28"/>
          <p:cNvSpPr/>
          <p:nvPr/>
        </p:nvSpPr>
        <p:spPr>
          <a:xfrm>
            <a:off x="7298142" y="5500116"/>
            <a:ext cx="118872" cy="118872"/>
          </a:xfrm>
          <a:prstGeom prst="ellipse">
            <a:avLst/>
          </a:prstGeom>
          <a:solidFill>
            <a:srgbClr val="009DDF"/>
          </a:solidFill>
          <a:ln w="12700">
            <a:solidFill>
              <a:srgbClr val="009DDF"/>
            </a:solidFill>
            <a:prstDash val="solid"/>
          </a:ln>
        </p:spPr>
      </p:sp>
      <p:sp>
        <p:nvSpPr>
          <p:cNvPr id="34" name="Shape 29"/>
          <p:cNvSpPr/>
          <p:nvPr/>
        </p:nvSpPr>
        <p:spPr>
          <a:xfrm>
            <a:off x="6937647" y="5500116"/>
            <a:ext cx="118872" cy="118872"/>
          </a:xfrm>
          <a:prstGeom prst="ellipse">
            <a:avLst/>
          </a:prstGeom>
          <a:solidFill>
            <a:srgbClr val="009DDF"/>
          </a:solidFill>
          <a:ln w="12700">
            <a:solidFill>
              <a:srgbClr val="009DDF"/>
            </a:solidFill>
            <a:prstDash val="solid"/>
          </a:ln>
        </p:spPr>
      </p:sp>
      <p:sp>
        <p:nvSpPr>
          <p:cNvPr id="35" name="Shape 30"/>
          <p:cNvSpPr/>
          <p:nvPr/>
        </p:nvSpPr>
        <p:spPr>
          <a:xfrm>
            <a:off x="6526861" y="5449824"/>
            <a:ext cx="219456" cy="219456"/>
          </a:xfrm>
          <a:prstGeom prst="ellipse">
            <a:avLst/>
          </a:prstGeom>
          <a:solidFill>
            <a:srgbClr val="C7780F"/>
          </a:solidFill>
          <a:ln w="12700">
            <a:solidFill>
              <a:srgbClr val="C7780F"/>
            </a:solidFill>
            <a:prstDash val="solid"/>
          </a:ln>
        </p:spPr>
      </p:sp>
      <p:sp>
        <p:nvSpPr>
          <p:cNvPr id="36" name="Shape 31"/>
          <p:cNvSpPr/>
          <p:nvPr/>
        </p:nvSpPr>
        <p:spPr>
          <a:xfrm>
            <a:off x="6216659" y="5500116"/>
            <a:ext cx="118872" cy="118872"/>
          </a:xfrm>
          <a:prstGeom prst="ellipse">
            <a:avLst/>
          </a:prstGeom>
          <a:solidFill>
            <a:srgbClr val="009DDF"/>
          </a:solidFill>
          <a:ln w="12700">
            <a:solidFill>
              <a:srgbClr val="009DDF"/>
            </a:solidFill>
            <a:prstDash val="solid"/>
          </a:ln>
        </p:spPr>
      </p:sp>
      <p:sp>
        <p:nvSpPr>
          <p:cNvPr id="37" name="Shape 32"/>
          <p:cNvSpPr/>
          <p:nvPr/>
        </p:nvSpPr>
        <p:spPr>
          <a:xfrm>
            <a:off x="5856164" y="5500116"/>
            <a:ext cx="118872" cy="118872"/>
          </a:xfrm>
          <a:prstGeom prst="ellipse">
            <a:avLst/>
          </a:prstGeom>
          <a:solidFill>
            <a:srgbClr val="009DDF"/>
          </a:solidFill>
          <a:ln w="12700">
            <a:solidFill>
              <a:srgbClr val="009DDF"/>
            </a:solidFill>
            <a:prstDash val="solid"/>
          </a:ln>
        </p:spPr>
      </p:sp>
      <p:sp>
        <p:nvSpPr>
          <p:cNvPr id="38" name="Shape 33"/>
          <p:cNvSpPr/>
          <p:nvPr/>
        </p:nvSpPr>
        <p:spPr>
          <a:xfrm>
            <a:off x="5495670" y="5500116"/>
            <a:ext cx="118872" cy="118872"/>
          </a:xfrm>
          <a:prstGeom prst="ellipse">
            <a:avLst/>
          </a:prstGeom>
          <a:solidFill>
            <a:srgbClr val="009DDF"/>
          </a:solidFill>
          <a:ln w="12700">
            <a:solidFill>
              <a:srgbClr val="009DDF"/>
            </a:solidFill>
            <a:prstDash val="solid"/>
          </a:ln>
        </p:spPr>
      </p:sp>
      <p:sp>
        <p:nvSpPr>
          <p:cNvPr id="39" name="Shape 34"/>
          <p:cNvSpPr/>
          <p:nvPr/>
        </p:nvSpPr>
        <p:spPr>
          <a:xfrm>
            <a:off x="5135176" y="5500116"/>
            <a:ext cx="118872" cy="118872"/>
          </a:xfrm>
          <a:prstGeom prst="ellipse">
            <a:avLst/>
          </a:prstGeom>
          <a:solidFill>
            <a:srgbClr val="009DDF"/>
          </a:solidFill>
          <a:ln w="12700">
            <a:solidFill>
              <a:srgbClr val="009DDF"/>
            </a:solidFill>
            <a:prstDash val="solid"/>
          </a:ln>
        </p:spPr>
      </p:sp>
      <p:sp>
        <p:nvSpPr>
          <p:cNvPr id="40" name="Shape 35"/>
          <p:cNvSpPr/>
          <p:nvPr/>
        </p:nvSpPr>
        <p:spPr>
          <a:xfrm>
            <a:off x="4774681" y="5500116"/>
            <a:ext cx="118872" cy="118872"/>
          </a:xfrm>
          <a:prstGeom prst="ellipse">
            <a:avLst/>
          </a:prstGeom>
          <a:solidFill>
            <a:srgbClr val="009DDF"/>
          </a:solidFill>
          <a:ln w="12700">
            <a:solidFill>
              <a:srgbClr val="009DDF"/>
            </a:solidFill>
            <a:prstDash val="solid"/>
          </a:ln>
        </p:spPr>
      </p:sp>
      <p:sp>
        <p:nvSpPr>
          <p:cNvPr id="41" name="Shape 36"/>
          <p:cNvSpPr/>
          <p:nvPr/>
        </p:nvSpPr>
        <p:spPr>
          <a:xfrm>
            <a:off x="4414187" y="5500116"/>
            <a:ext cx="118872" cy="118872"/>
          </a:xfrm>
          <a:prstGeom prst="ellipse">
            <a:avLst/>
          </a:prstGeom>
          <a:solidFill>
            <a:srgbClr val="009DDF"/>
          </a:solidFill>
          <a:ln w="12700">
            <a:solidFill>
              <a:srgbClr val="009DDF"/>
            </a:solidFill>
            <a:prstDash val="solid"/>
          </a:ln>
        </p:spPr>
      </p:sp>
      <p:sp>
        <p:nvSpPr>
          <p:cNvPr id="42" name="Shape 37"/>
          <p:cNvSpPr/>
          <p:nvPr/>
        </p:nvSpPr>
        <p:spPr>
          <a:xfrm>
            <a:off x="4003401" y="5449824"/>
            <a:ext cx="219456" cy="219456"/>
          </a:xfrm>
          <a:prstGeom prst="ellipse">
            <a:avLst/>
          </a:prstGeom>
          <a:solidFill>
            <a:srgbClr val="C7780F"/>
          </a:solidFill>
          <a:ln w="12700">
            <a:solidFill>
              <a:srgbClr val="C7780F"/>
            </a:solidFill>
            <a:prstDash val="solid"/>
          </a:ln>
        </p:spPr>
      </p:sp>
      <p:sp>
        <p:nvSpPr>
          <p:cNvPr id="43" name="Shape 38"/>
          <p:cNvSpPr/>
          <p:nvPr/>
        </p:nvSpPr>
        <p:spPr>
          <a:xfrm>
            <a:off x="3693199" y="5500116"/>
            <a:ext cx="118872" cy="118872"/>
          </a:xfrm>
          <a:prstGeom prst="ellipse">
            <a:avLst/>
          </a:prstGeom>
          <a:solidFill>
            <a:srgbClr val="009DDF"/>
          </a:solidFill>
          <a:ln w="12700">
            <a:solidFill>
              <a:srgbClr val="009DDF"/>
            </a:solidFill>
            <a:prstDash val="solid"/>
          </a:ln>
        </p:spPr>
      </p:sp>
      <p:sp>
        <p:nvSpPr>
          <p:cNvPr id="44" name="Shape 39"/>
          <p:cNvSpPr/>
          <p:nvPr/>
        </p:nvSpPr>
        <p:spPr>
          <a:xfrm>
            <a:off x="3332704" y="5500116"/>
            <a:ext cx="118872" cy="118872"/>
          </a:xfrm>
          <a:prstGeom prst="ellipse">
            <a:avLst/>
          </a:prstGeom>
          <a:solidFill>
            <a:srgbClr val="009DDF"/>
          </a:solidFill>
          <a:ln w="12700">
            <a:solidFill>
              <a:srgbClr val="009DDF"/>
            </a:solidFill>
            <a:prstDash val="solid"/>
          </a:ln>
        </p:spPr>
      </p:sp>
      <p:sp>
        <p:nvSpPr>
          <p:cNvPr id="45" name="Shape 40"/>
          <p:cNvSpPr/>
          <p:nvPr/>
        </p:nvSpPr>
        <p:spPr>
          <a:xfrm>
            <a:off x="2972210" y="5500116"/>
            <a:ext cx="118872" cy="118872"/>
          </a:xfrm>
          <a:prstGeom prst="ellipse">
            <a:avLst/>
          </a:prstGeom>
          <a:solidFill>
            <a:srgbClr val="009DDF"/>
          </a:solidFill>
          <a:ln w="12700">
            <a:solidFill>
              <a:srgbClr val="009DDF"/>
            </a:solidFill>
            <a:prstDash val="solid"/>
          </a:ln>
        </p:spPr>
      </p:sp>
      <p:sp>
        <p:nvSpPr>
          <p:cNvPr id="46" name="Shape 41"/>
          <p:cNvSpPr/>
          <p:nvPr/>
        </p:nvSpPr>
        <p:spPr>
          <a:xfrm>
            <a:off x="2611716" y="5500116"/>
            <a:ext cx="118872" cy="118872"/>
          </a:xfrm>
          <a:prstGeom prst="ellipse">
            <a:avLst/>
          </a:prstGeom>
          <a:solidFill>
            <a:srgbClr val="009DDF"/>
          </a:solidFill>
          <a:ln w="12700">
            <a:solidFill>
              <a:srgbClr val="009DDF"/>
            </a:solidFill>
            <a:prstDash val="solid"/>
          </a:ln>
        </p:spPr>
      </p:sp>
      <p:sp>
        <p:nvSpPr>
          <p:cNvPr id="47" name="Shape 42"/>
          <p:cNvSpPr/>
          <p:nvPr/>
        </p:nvSpPr>
        <p:spPr>
          <a:xfrm>
            <a:off x="2251221" y="5500116"/>
            <a:ext cx="118872" cy="118872"/>
          </a:xfrm>
          <a:prstGeom prst="ellipse">
            <a:avLst/>
          </a:prstGeom>
          <a:solidFill>
            <a:srgbClr val="009DDF"/>
          </a:solidFill>
          <a:ln w="12700">
            <a:solidFill>
              <a:srgbClr val="009DDF"/>
            </a:solidFill>
            <a:prstDash val="solid"/>
          </a:ln>
        </p:spPr>
      </p:sp>
      <p:sp>
        <p:nvSpPr>
          <p:cNvPr id="48" name="Shape 43"/>
          <p:cNvSpPr/>
          <p:nvPr/>
        </p:nvSpPr>
        <p:spPr>
          <a:xfrm>
            <a:off x="1890727" y="5500116"/>
            <a:ext cx="118872" cy="118872"/>
          </a:xfrm>
          <a:prstGeom prst="ellipse">
            <a:avLst/>
          </a:prstGeom>
          <a:solidFill>
            <a:srgbClr val="009DDF"/>
          </a:solidFill>
          <a:ln w="12700">
            <a:solidFill>
              <a:srgbClr val="009DDF"/>
            </a:solidFill>
            <a:prstDash val="solid"/>
          </a:ln>
        </p:spPr>
      </p:sp>
      <p:sp>
        <p:nvSpPr>
          <p:cNvPr id="49" name="Shape 44"/>
          <p:cNvSpPr/>
          <p:nvPr/>
        </p:nvSpPr>
        <p:spPr>
          <a:xfrm>
            <a:off x="1479941" y="5449824"/>
            <a:ext cx="219456" cy="219456"/>
          </a:xfrm>
          <a:prstGeom prst="ellipse">
            <a:avLst/>
          </a:prstGeom>
          <a:solidFill>
            <a:srgbClr val="C7780F"/>
          </a:solidFill>
          <a:ln w="12700">
            <a:solidFill>
              <a:srgbClr val="C7780F"/>
            </a:solidFill>
            <a:prstDash val="solid"/>
          </a:ln>
        </p:spPr>
      </p:sp>
      <p:sp>
        <p:nvSpPr>
          <p:cNvPr id="50" name="Shape 45"/>
          <p:cNvSpPr/>
          <p:nvPr/>
        </p:nvSpPr>
        <p:spPr>
          <a:xfrm>
            <a:off x="1169738" y="5500116"/>
            <a:ext cx="118872" cy="118872"/>
          </a:xfrm>
          <a:prstGeom prst="ellipse">
            <a:avLst/>
          </a:prstGeom>
          <a:solidFill>
            <a:srgbClr val="009DDF"/>
          </a:solidFill>
          <a:ln w="12700">
            <a:solidFill>
              <a:srgbClr val="009DDF"/>
            </a:solidFill>
            <a:prstDash val="solid"/>
          </a:ln>
        </p:spPr>
      </p:sp>
      <p:sp>
        <p:nvSpPr>
          <p:cNvPr id="51" name="Shape 46"/>
          <p:cNvSpPr/>
          <p:nvPr/>
        </p:nvSpPr>
        <p:spPr>
          <a:xfrm>
            <a:off x="758952" y="5449824"/>
            <a:ext cx="219456" cy="219456"/>
          </a:xfrm>
          <a:prstGeom prst="ellipse">
            <a:avLst/>
          </a:prstGeom>
          <a:solidFill>
            <a:srgbClr val="1B8A5A"/>
          </a:solidFill>
          <a:ln w="12700">
            <a:solidFill>
              <a:srgbClr val="1B8A5A"/>
            </a:solidFill>
            <a:prstDash val="solid"/>
          </a:ln>
        </p:spPr>
      </p:sp>
      <p:sp>
        <p:nvSpPr>
          <p:cNvPr id="52" name="Text 47"/>
          <p:cNvSpPr txBox="1"/>
          <p:nvPr/>
        </p:nvSpPr>
        <p:spPr>
          <a:xfrm>
            <a:off x="777240" y="5715000"/>
            <a:ext cx="10637215" cy="320040"/>
          </a:xfrm>
          <a:prstGeom prst="rect">
            <a:avLst/>
          </a:prstGeom>
          <a:noFill/>
          <a:ln/>
        </p:spPr>
        <p:txBody>
          <a:bodyPr wrap="square" lIns="0" tIns="0" rIns="0" bIns="0" rtlCol="0" anchor="ctr"/>
          <a:lstStyle/>
          <a:p>
            <a:pPr rtl="1" algn="r" indent="0" marL="0">
              <a:buNone/>
            </a:pPr>
            <a:r>
              <a:rPr lang="ar-SA" altLang="en-US" sz="1050" dirty="0">
                <a:solidFill>
                  <a:srgbClr val="66788A"/>
                </a:solidFill>
                <a:latin typeface="Arial" pitchFamily="34" charset="0"/>
                <a:ea typeface="Arial" pitchFamily="34" charset="-122"/>
                <a:cs typeface="Arial" pitchFamily="34" charset="-120"/>
              </a:rPr>
              <a:t>نقطة زرقاء: يومية · برتقالية: أسبوعية تقفل اليومية ذلك اليوم · خضراء: شهرية تقفل اليومية والأسبوعية</a:t>
            </a:r>
            <a:endParaRPr lang="ar-SA" sz="1050" dirty="0"/>
          </a:p>
        </p:txBody>
      </p:sp>
      <p:sp>
        <p:nvSpPr>
          <p:cNvPr id="53" name="Text 48"/>
          <p:cNvSpPr txBox="1"/>
          <p:nvPr/>
        </p:nvSpPr>
        <p:spPr>
          <a:xfrm>
            <a:off x="777240" y="4983480"/>
            <a:ext cx="8534095" cy="365760"/>
          </a:xfrm>
          <a:prstGeom prst="rect">
            <a:avLst/>
          </a:prstGeom>
          <a:noFill/>
          <a:ln/>
        </p:spPr>
        <p:txBody>
          <a:bodyPr wrap="square" lIns="0" tIns="0" rIns="0" bIns="0" rtlCol="0" anchor="ctr"/>
          <a:lstStyle/>
          <a:p>
            <a:pPr rtl="1" algn="r" indent="0" marL="0">
              <a:buNone/>
            </a:pPr>
            <a:r>
              <a:rPr lang="ar-SA" altLang="en-US" sz="1100" dirty="0">
                <a:solidFill>
                  <a:srgbClr val="172A3A"/>
                </a:solidFill>
                <a:latin typeface="Arial" pitchFamily="34" charset="0"/>
                <a:ea typeface="Arial" pitchFamily="34" charset="-122"/>
                <a:cs typeface="Arial" pitchFamily="34" charset="-120"/>
              </a:rPr>
              <a:t>مدير النظام يستطيع فتح الأسبوعية أو الشهرية استثناءً لمشرف ومحطة محددين حتى نهاية الدورة الحالية.</a:t>
            </a:r>
            <a:endParaRPr lang="ar-SA" sz="1100" dirty="0"/>
          </a:p>
        </p:txBody>
      </p:sp>
      <p:sp>
        <p:nvSpPr>
          <p:cNvPr id="54" name="Text 49"/>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55" name="Text 50"/>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6</a:t>
            </a:r>
            <a:endParaRPr lang="ar-SA"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الملاحظات: مهلة، تذكير، أولوية، وسجل</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كل بند غير مطابق يتحول إلى ملاحظة تُتابع حتى الإغلاق</a:t>
            </a:r>
            <a:endParaRPr lang="ar-SA" sz="1500" dirty="0"/>
          </a:p>
        </p:txBody>
      </p:sp>
      <p:sp>
        <p:nvSpPr>
          <p:cNvPr id="4" name="Shape 2"/>
          <p:cNvSpPr/>
          <p:nvPr/>
        </p:nvSpPr>
        <p:spPr>
          <a:xfrm>
            <a:off x="6156655" y="1783080"/>
            <a:ext cx="5486400" cy="2011680"/>
          </a:xfrm>
          <a:prstGeom prst="roundRect">
            <a:avLst>
              <a:gd name="adj" fmla="val 6364"/>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865815" y="1984248"/>
            <a:ext cx="548640" cy="548640"/>
          </a:xfrm>
          <a:prstGeom prst="ellipse">
            <a:avLst/>
          </a:prstGeom>
          <a:solidFill>
            <a:srgbClr val="EAF6FC"/>
          </a:solidFill>
          <a:ln w="12700">
            <a:solidFill>
              <a:srgbClr val="EAF6FC"/>
            </a:solidFill>
            <a:prstDash val="solid"/>
          </a:ln>
        </p:spPr>
      </p:sp>
      <p:pic>
        <p:nvPicPr>
          <p:cNvPr id="6" name="Image 0" descr="preencoded.png">    </p:cNvPr>
          <p:cNvPicPr>
            <a:picLocks noChangeAspect="1"/>
          </p:cNvPicPr>
          <p:nvPr/>
        </p:nvPicPr>
        <p:blipFill>
          <a:blip r:embed="rId1"/>
          <a:stretch>
            <a:fillRect/>
          </a:stretch>
        </p:blipFill>
        <p:spPr>
          <a:xfrm>
            <a:off x="11002975" y="2121408"/>
            <a:ext cx="274320" cy="274320"/>
          </a:xfrm>
          <a:prstGeom prst="rect">
            <a:avLst/>
          </a:prstGeom>
        </p:spPr>
      </p:pic>
      <p:sp>
        <p:nvSpPr>
          <p:cNvPr id="7" name="Text 4"/>
          <p:cNvSpPr txBox="1"/>
          <p:nvPr/>
        </p:nvSpPr>
        <p:spPr>
          <a:xfrm>
            <a:off x="6385255" y="198424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مهلة معالجة لكل ملاحظة</a:t>
            </a:r>
            <a:endParaRPr lang="ar-SA" sz="1500" dirty="0"/>
          </a:p>
        </p:txBody>
      </p:sp>
      <p:sp>
        <p:nvSpPr>
          <p:cNvPr id="8" name="Text 5"/>
          <p:cNvSpPr txBox="1"/>
          <p:nvPr/>
        </p:nvSpPr>
        <p:spPr>
          <a:xfrm>
            <a:off x="6385255" y="2651760"/>
            <a:ext cx="5029200" cy="1005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تُحدد من بند قائمة التحقق حسب خطورته. تذكير قبل انتهائها وتنبيه بعده للمشرف ومساعده.</a:t>
            </a:r>
            <a:endParaRPr lang="ar-SA" sz="1200" dirty="0"/>
          </a:p>
        </p:txBody>
      </p:sp>
      <p:sp>
        <p:nvSpPr>
          <p:cNvPr id="9" name="Shape 6"/>
          <p:cNvSpPr/>
          <p:nvPr/>
        </p:nvSpPr>
        <p:spPr>
          <a:xfrm>
            <a:off x="548640" y="1783080"/>
            <a:ext cx="5486400" cy="2011680"/>
          </a:xfrm>
          <a:prstGeom prst="roundRect">
            <a:avLst>
              <a:gd name="adj" fmla="val 6364"/>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0" name="Shape 7"/>
          <p:cNvSpPr/>
          <p:nvPr/>
        </p:nvSpPr>
        <p:spPr>
          <a:xfrm>
            <a:off x="5257800" y="1984248"/>
            <a:ext cx="548640" cy="548640"/>
          </a:xfrm>
          <a:prstGeom prst="ellipse">
            <a:avLst/>
          </a:prstGeom>
          <a:solidFill>
            <a:srgbClr val="FDEDED"/>
          </a:solidFill>
          <a:ln w="12700">
            <a:solidFill>
              <a:srgbClr val="FDEDED"/>
            </a:solidFill>
            <a:prstDash val="solid"/>
          </a:ln>
        </p:spPr>
      </p:sp>
      <p:pic>
        <p:nvPicPr>
          <p:cNvPr id="11" name="Image 1" descr="preencoded.png">    </p:cNvPr>
          <p:cNvPicPr>
            <a:picLocks noChangeAspect="1"/>
          </p:cNvPicPr>
          <p:nvPr/>
        </p:nvPicPr>
        <p:blipFill>
          <a:blip r:embed="rId2"/>
          <a:stretch>
            <a:fillRect/>
          </a:stretch>
        </p:blipFill>
        <p:spPr>
          <a:xfrm>
            <a:off x="5394960" y="2121408"/>
            <a:ext cx="274320" cy="274320"/>
          </a:xfrm>
          <a:prstGeom prst="rect">
            <a:avLst/>
          </a:prstGeom>
        </p:spPr>
      </p:pic>
      <p:sp>
        <p:nvSpPr>
          <p:cNvPr id="12" name="Text 8"/>
          <p:cNvSpPr txBox="1"/>
          <p:nvPr/>
        </p:nvSpPr>
        <p:spPr>
          <a:xfrm>
            <a:off x="777240" y="198424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نقل الأولوية «عاجل»</a:t>
            </a:r>
            <a:endParaRPr lang="ar-SA" sz="1500" dirty="0"/>
          </a:p>
        </p:txBody>
      </p:sp>
      <p:sp>
        <p:nvSpPr>
          <p:cNvPr id="13" name="Text 9"/>
          <p:cNvSpPr txBox="1"/>
          <p:nvPr/>
        </p:nvSpPr>
        <p:spPr>
          <a:xfrm>
            <a:off x="777240" y="2651760"/>
            <a:ext cx="5029200" cy="1005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مسؤول الإشراف ومسؤول المنطقة ومدير العمليات يقدّمون ملاحظة إلى أعلى ترتيب المعالجة بضغطة، مع إشعار للمشرف والمساعد.</a:t>
            </a:r>
            <a:endParaRPr lang="ar-SA" sz="1200" dirty="0"/>
          </a:p>
        </p:txBody>
      </p:sp>
      <p:sp>
        <p:nvSpPr>
          <p:cNvPr id="14" name="Shape 10"/>
          <p:cNvSpPr/>
          <p:nvPr/>
        </p:nvSpPr>
        <p:spPr>
          <a:xfrm>
            <a:off x="6156655" y="3977640"/>
            <a:ext cx="5486400" cy="2011680"/>
          </a:xfrm>
          <a:prstGeom prst="roundRect">
            <a:avLst>
              <a:gd name="adj" fmla="val 6364"/>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5" name="Shape 11"/>
          <p:cNvSpPr/>
          <p:nvPr/>
        </p:nvSpPr>
        <p:spPr>
          <a:xfrm>
            <a:off x="10865815" y="4178808"/>
            <a:ext cx="548640" cy="548640"/>
          </a:xfrm>
          <a:prstGeom prst="ellipse">
            <a:avLst/>
          </a:prstGeom>
          <a:solidFill>
            <a:srgbClr val="EAF6FC"/>
          </a:solidFill>
          <a:ln w="12700">
            <a:solidFill>
              <a:srgbClr val="EAF6FC"/>
            </a:solidFill>
            <a:prstDash val="solid"/>
          </a:ln>
        </p:spPr>
      </p:sp>
      <p:pic>
        <p:nvPicPr>
          <p:cNvPr id="16" name="Image 2" descr="preencoded.png">    </p:cNvPr>
          <p:cNvPicPr>
            <a:picLocks noChangeAspect="1"/>
          </p:cNvPicPr>
          <p:nvPr/>
        </p:nvPicPr>
        <p:blipFill>
          <a:blip r:embed="rId3"/>
          <a:stretch>
            <a:fillRect/>
          </a:stretch>
        </p:blipFill>
        <p:spPr>
          <a:xfrm>
            <a:off x="11002975" y="4315968"/>
            <a:ext cx="274320" cy="274320"/>
          </a:xfrm>
          <a:prstGeom prst="rect">
            <a:avLst/>
          </a:prstGeom>
        </p:spPr>
      </p:pic>
      <p:sp>
        <p:nvSpPr>
          <p:cNvPr id="17" name="Text 12"/>
          <p:cNvSpPr txBox="1"/>
          <p:nvPr/>
        </p:nvSpPr>
        <p:spPr>
          <a:xfrm>
            <a:off x="6385255" y="417880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سجل المحطة بتاريخ الزيارة</a:t>
            </a:r>
            <a:endParaRPr lang="ar-SA" sz="1500" dirty="0"/>
          </a:p>
        </p:txBody>
      </p:sp>
      <p:sp>
        <p:nvSpPr>
          <p:cNvPr id="18" name="Text 13"/>
          <p:cNvSpPr txBox="1"/>
          <p:nvPr/>
        </p:nvSpPr>
        <p:spPr>
          <a:xfrm>
            <a:off x="6385255" y="4846320"/>
            <a:ext cx="5029200" cy="1005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من بطاقة المحطة: كل زيارة مطوية مع ملاحظاتها، الأحدث والمفتوح مفتوح والباقي مطوي. يعرف الجميع ما في المحطة الآن.</a:t>
            </a:r>
            <a:endParaRPr lang="ar-SA" sz="1200" dirty="0"/>
          </a:p>
        </p:txBody>
      </p:sp>
      <p:sp>
        <p:nvSpPr>
          <p:cNvPr id="19" name="Shape 14"/>
          <p:cNvSpPr/>
          <p:nvPr/>
        </p:nvSpPr>
        <p:spPr>
          <a:xfrm>
            <a:off x="548640" y="3977640"/>
            <a:ext cx="5486400" cy="2011680"/>
          </a:xfrm>
          <a:prstGeom prst="roundRect">
            <a:avLst>
              <a:gd name="adj" fmla="val 6364"/>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20" name="Shape 15"/>
          <p:cNvSpPr/>
          <p:nvPr/>
        </p:nvSpPr>
        <p:spPr>
          <a:xfrm>
            <a:off x="5257800" y="4178808"/>
            <a:ext cx="548640" cy="548640"/>
          </a:xfrm>
          <a:prstGeom prst="ellipse">
            <a:avLst/>
          </a:prstGeom>
          <a:solidFill>
            <a:srgbClr val="EAF6FC"/>
          </a:solidFill>
          <a:ln w="12700">
            <a:solidFill>
              <a:srgbClr val="EAF6FC"/>
            </a:solidFill>
            <a:prstDash val="solid"/>
          </a:ln>
        </p:spPr>
      </p:sp>
      <p:pic>
        <p:nvPicPr>
          <p:cNvPr id="21" name="Image 3" descr="preencoded.png">    </p:cNvPr>
          <p:cNvPicPr>
            <a:picLocks noChangeAspect="1"/>
          </p:cNvPicPr>
          <p:nvPr/>
        </p:nvPicPr>
        <p:blipFill>
          <a:blip r:embed="rId4"/>
          <a:stretch>
            <a:fillRect/>
          </a:stretch>
        </p:blipFill>
        <p:spPr>
          <a:xfrm>
            <a:off x="5394960" y="4315968"/>
            <a:ext cx="274320" cy="274320"/>
          </a:xfrm>
          <a:prstGeom prst="rect">
            <a:avLst/>
          </a:prstGeom>
        </p:spPr>
      </p:pic>
      <p:sp>
        <p:nvSpPr>
          <p:cNvPr id="22" name="Text 16"/>
          <p:cNvSpPr txBox="1"/>
          <p:nvPr/>
        </p:nvSpPr>
        <p:spPr>
          <a:xfrm>
            <a:off x="777240" y="417880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الإغلاق بالتحقق</a:t>
            </a:r>
            <a:endParaRPr lang="ar-SA" sz="1500" dirty="0"/>
          </a:p>
        </p:txBody>
      </p:sp>
      <p:sp>
        <p:nvSpPr>
          <p:cNvPr id="23" name="Text 17"/>
          <p:cNvSpPr txBox="1"/>
          <p:nvPr/>
        </p:nvSpPr>
        <p:spPr>
          <a:xfrm>
            <a:off x="777240" y="4846320"/>
            <a:ext cx="5029200" cy="1005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المشرف يرفع المعالجة بصورة، ومساعده يتحقق ويغلق أو يعيدها بسبب. المصعَّد إليه يستطيع التصرف أيضًا.</a:t>
            </a:r>
            <a:endParaRPr lang="ar-SA" sz="1200" dirty="0"/>
          </a:p>
        </p:txBody>
      </p:sp>
      <p:sp>
        <p:nvSpPr>
          <p:cNvPr id="24" name="Text 18"/>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25" name="Text 19"/>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7</a:t>
            </a:r>
            <a:endParaRPr lang="ar-SA"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سلّم التصعيد التلقائي</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يُحسب من انتهاء مهلة المعالجة، ويعمل كل ساعة بلا تدخل بشري</a:t>
            </a:r>
            <a:endParaRPr lang="ar-SA" sz="1500" dirty="0"/>
          </a:p>
        </p:txBody>
      </p:sp>
      <p:sp>
        <p:nvSpPr>
          <p:cNvPr id="4" name="Shape 2"/>
          <p:cNvSpPr/>
          <p:nvPr/>
        </p:nvSpPr>
        <p:spPr>
          <a:xfrm>
            <a:off x="9037015" y="1783080"/>
            <a:ext cx="2606040" cy="2331720"/>
          </a:xfrm>
          <a:prstGeom prst="roundRect">
            <a:avLst>
              <a:gd name="adj" fmla="val 549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682935" y="1984248"/>
            <a:ext cx="731520" cy="731520"/>
          </a:xfrm>
          <a:prstGeom prst="ellipse">
            <a:avLst/>
          </a:prstGeom>
          <a:solidFill>
            <a:srgbClr val="EAF6FC"/>
          </a:solidFill>
          <a:ln w="12700">
            <a:solidFill>
              <a:srgbClr val="EAF6FC"/>
            </a:solidFill>
            <a:prstDash val="solid"/>
          </a:ln>
        </p:spPr>
      </p:sp>
      <p:sp>
        <p:nvSpPr>
          <p:cNvPr id="6" name="Text 4"/>
          <p:cNvSpPr txBox="1"/>
          <p:nvPr/>
        </p:nvSpPr>
        <p:spPr>
          <a:xfrm>
            <a:off x="10682935" y="1984248"/>
            <a:ext cx="731520" cy="731520"/>
          </a:xfrm>
          <a:prstGeom prst="rect">
            <a:avLst/>
          </a:prstGeom>
          <a:noFill/>
          <a:ln/>
        </p:spPr>
        <p:txBody>
          <a:bodyPr wrap="square" lIns="0" tIns="0" rIns="0" bIns="0" rtlCol="0" anchor="ctr"/>
          <a:lstStyle/>
          <a:p>
            <a:pPr rtl="1" algn="ctr" indent="0" marL="0">
              <a:buNone/>
            </a:pPr>
            <a:r>
              <a:rPr lang="ar-SA" altLang="en-US" sz="2000" b="1" dirty="0">
                <a:solidFill>
                  <a:srgbClr val="009DDF"/>
                </a:solidFill>
                <a:latin typeface="Arial" pitchFamily="34" charset="0"/>
                <a:ea typeface="Arial" pitchFamily="34" charset="-122"/>
                <a:cs typeface="Arial" pitchFamily="34" charset="-120"/>
              </a:rPr>
              <a:t>٠</a:t>
            </a:r>
            <a:endParaRPr lang="ar-SA" sz="2000" dirty="0"/>
          </a:p>
        </p:txBody>
      </p:sp>
      <p:sp>
        <p:nvSpPr>
          <p:cNvPr id="7" name="Text 5"/>
          <p:cNvSpPr txBox="1"/>
          <p:nvPr/>
        </p:nvSpPr>
        <p:spPr>
          <a:xfrm>
            <a:off x="9265615" y="1984248"/>
            <a:ext cx="1417320" cy="320040"/>
          </a:xfrm>
          <a:prstGeom prst="rect">
            <a:avLst/>
          </a:prstGeom>
          <a:noFill/>
          <a:ln/>
        </p:spPr>
        <p:txBody>
          <a:bodyPr wrap="square" lIns="0" tIns="0" rIns="0" bIns="0" rtlCol="0" anchor="ctr"/>
          <a:lstStyle/>
          <a:p>
            <a:pPr rtl="1" algn="r" indent="0" marL="0">
              <a:buNone/>
            </a:pPr>
            <a:r>
              <a:rPr lang="ar-SA" altLang="en-US" sz="1000" dirty="0">
                <a:solidFill>
                  <a:srgbClr val="66788A"/>
                </a:solidFill>
                <a:latin typeface="Arial" pitchFamily="34" charset="0"/>
                <a:ea typeface="Arial" pitchFamily="34" charset="-122"/>
                <a:cs typeface="Arial" pitchFamily="34" charset="-120"/>
              </a:rPr>
              <a:t>يوم</a:t>
            </a:r>
            <a:endParaRPr lang="ar-SA" sz="1000" dirty="0"/>
          </a:p>
        </p:txBody>
      </p:sp>
      <p:sp>
        <p:nvSpPr>
          <p:cNvPr id="8" name="Text 6"/>
          <p:cNvSpPr txBox="1"/>
          <p:nvPr/>
        </p:nvSpPr>
        <p:spPr>
          <a:xfrm>
            <a:off x="9265615" y="2240280"/>
            <a:ext cx="1417320" cy="457200"/>
          </a:xfrm>
          <a:prstGeom prst="rect">
            <a:avLst/>
          </a:prstGeom>
          <a:noFill/>
          <a:ln/>
        </p:spPr>
        <p:txBody>
          <a:bodyPr wrap="square" lIns="0" tIns="0" rIns="0" bIns="0" rtlCol="0" anchor="ctr"/>
          <a:lstStyle/>
          <a:p>
            <a:pPr rtl="1" algn="r" indent="0" marL="0">
              <a:buNone/>
            </a:pPr>
            <a:r>
              <a:rPr lang="ar-SA" altLang="en-US" sz="1300" b="1" dirty="0">
                <a:solidFill>
                  <a:srgbClr val="009DDF"/>
                </a:solidFill>
                <a:latin typeface="Arial" pitchFamily="34" charset="0"/>
                <a:ea typeface="Arial" pitchFamily="34" charset="-122"/>
                <a:cs typeface="Arial" pitchFamily="34" charset="-120"/>
              </a:rPr>
              <a:t>انتهاء المهلة</a:t>
            </a:r>
            <a:endParaRPr lang="ar-SA" sz="1300" dirty="0"/>
          </a:p>
        </p:txBody>
      </p:sp>
      <p:sp>
        <p:nvSpPr>
          <p:cNvPr id="9" name="Text 7"/>
          <p:cNvSpPr txBox="1"/>
          <p:nvPr/>
        </p:nvSpPr>
        <p:spPr>
          <a:xfrm>
            <a:off x="9265615" y="2834640"/>
            <a:ext cx="2148840" cy="411480"/>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الملاحظة متأخرة</a:t>
            </a:r>
            <a:endParaRPr lang="ar-SA" sz="1500" dirty="0"/>
          </a:p>
        </p:txBody>
      </p:sp>
      <p:sp>
        <p:nvSpPr>
          <p:cNvPr id="10" name="Text 8"/>
          <p:cNvSpPr txBox="1"/>
          <p:nvPr/>
        </p:nvSpPr>
        <p:spPr>
          <a:xfrm>
            <a:off x="9265615" y="3264408"/>
            <a:ext cx="2148840" cy="731520"/>
          </a:xfrm>
          <a:prstGeom prst="rect">
            <a:avLst/>
          </a:prstGeom>
          <a:noFill/>
          <a:ln/>
        </p:spPr>
        <p:txBody>
          <a:bodyPr wrap="square" lIns="0" tIns="0" rIns="0" bIns="0" rtlCol="0" anchor="t"/>
          <a:lstStyle/>
          <a:p>
            <a:pPr rtl="1" algn="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تذكير للمشرف ومساعده</a:t>
            </a:r>
            <a:endParaRPr lang="ar-SA" sz="1100" dirty="0"/>
          </a:p>
        </p:txBody>
      </p:sp>
      <p:sp>
        <p:nvSpPr>
          <p:cNvPr id="11" name="Shape 9"/>
          <p:cNvSpPr/>
          <p:nvPr/>
        </p:nvSpPr>
        <p:spPr>
          <a:xfrm>
            <a:off x="8799271" y="2880360"/>
            <a:ext cx="219456" cy="292608"/>
          </a:xfrm>
          <a:prstGeom prst="leftArrow">
            <a:avLst/>
          </a:prstGeom>
          <a:solidFill>
            <a:srgbClr val="D2ECF8"/>
          </a:solidFill>
          <a:ln w="12700">
            <a:solidFill>
              <a:srgbClr val="D2ECF8"/>
            </a:solidFill>
            <a:prstDash val="solid"/>
          </a:ln>
        </p:spPr>
      </p:sp>
      <p:sp>
        <p:nvSpPr>
          <p:cNvPr id="12" name="Shape 10"/>
          <p:cNvSpPr/>
          <p:nvPr/>
        </p:nvSpPr>
        <p:spPr>
          <a:xfrm>
            <a:off x="6174943" y="1984248"/>
            <a:ext cx="2606040" cy="2331720"/>
          </a:xfrm>
          <a:prstGeom prst="roundRect">
            <a:avLst>
              <a:gd name="adj" fmla="val 549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3" name="Shape 11"/>
          <p:cNvSpPr/>
          <p:nvPr/>
        </p:nvSpPr>
        <p:spPr>
          <a:xfrm>
            <a:off x="7820863" y="2185416"/>
            <a:ext cx="731520" cy="731520"/>
          </a:xfrm>
          <a:prstGeom prst="ellipse">
            <a:avLst/>
          </a:prstGeom>
          <a:solidFill>
            <a:srgbClr val="FFF5E6"/>
          </a:solidFill>
          <a:ln w="12700">
            <a:solidFill>
              <a:srgbClr val="FFF5E6"/>
            </a:solidFill>
            <a:prstDash val="solid"/>
          </a:ln>
        </p:spPr>
      </p:sp>
      <p:sp>
        <p:nvSpPr>
          <p:cNvPr id="14" name="Text 12"/>
          <p:cNvSpPr txBox="1"/>
          <p:nvPr/>
        </p:nvSpPr>
        <p:spPr>
          <a:xfrm>
            <a:off x="7820863" y="2185416"/>
            <a:ext cx="731520" cy="731520"/>
          </a:xfrm>
          <a:prstGeom prst="rect">
            <a:avLst/>
          </a:prstGeom>
          <a:noFill/>
          <a:ln/>
        </p:spPr>
        <p:txBody>
          <a:bodyPr wrap="square" lIns="0" tIns="0" rIns="0" bIns="0" rtlCol="0" anchor="ctr"/>
          <a:lstStyle/>
          <a:p>
            <a:pPr rtl="1" algn="ctr" indent="0" marL="0">
              <a:buNone/>
            </a:pPr>
            <a:r>
              <a:rPr lang="ar-SA" altLang="en-US" sz="2000" b="1" dirty="0">
                <a:solidFill>
                  <a:srgbClr val="C7780F"/>
                </a:solidFill>
                <a:latin typeface="Arial" pitchFamily="34" charset="0"/>
                <a:ea typeface="Arial" pitchFamily="34" charset="-122"/>
                <a:cs typeface="Arial" pitchFamily="34" charset="-120"/>
              </a:rPr>
              <a:t>١٤</a:t>
            </a:r>
            <a:endParaRPr lang="ar-SA" sz="2000" dirty="0"/>
          </a:p>
        </p:txBody>
      </p:sp>
      <p:sp>
        <p:nvSpPr>
          <p:cNvPr id="15" name="Text 13"/>
          <p:cNvSpPr txBox="1"/>
          <p:nvPr/>
        </p:nvSpPr>
        <p:spPr>
          <a:xfrm>
            <a:off x="6403543" y="2185416"/>
            <a:ext cx="1417320" cy="320040"/>
          </a:xfrm>
          <a:prstGeom prst="rect">
            <a:avLst/>
          </a:prstGeom>
          <a:noFill/>
          <a:ln/>
        </p:spPr>
        <p:txBody>
          <a:bodyPr wrap="square" lIns="0" tIns="0" rIns="0" bIns="0" rtlCol="0" anchor="ctr"/>
          <a:lstStyle/>
          <a:p>
            <a:pPr rtl="1" algn="r" indent="0" marL="0">
              <a:buNone/>
            </a:pPr>
            <a:r>
              <a:rPr lang="ar-SA" altLang="en-US" sz="1000" dirty="0">
                <a:solidFill>
                  <a:srgbClr val="66788A"/>
                </a:solidFill>
                <a:latin typeface="Arial" pitchFamily="34" charset="0"/>
                <a:ea typeface="Arial" pitchFamily="34" charset="-122"/>
                <a:cs typeface="Arial" pitchFamily="34" charset="-120"/>
              </a:rPr>
              <a:t>يوم</a:t>
            </a:r>
            <a:endParaRPr lang="ar-SA" sz="1000" dirty="0"/>
          </a:p>
        </p:txBody>
      </p:sp>
      <p:sp>
        <p:nvSpPr>
          <p:cNvPr id="16" name="Text 14"/>
          <p:cNvSpPr txBox="1"/>
          <p:nvPr/>
        </p:nvSpPr>
        <p:spPr>
          <a:xfrm>
            <a:off x="6403543" y="2441448"/>
            <a:ext cx="1417320" cy="457200"/>
          </a:xfrm>
          <a:prstGeom prst="rect">
            <a:avLst/>
          </a:prstGeom>
          <a:noFill/>
          <a:ln/>
        </p:spPr>
        <p:txBody>
          <a:bodyPr wrap="square" lIns="0" tIns="0" rIns="0" bIns="0" rtlCol="0" anchor="ctr"/>
          <a:lstStyle/>
          <a:p>
            <a:pPr rtl="1" algn="r" indent="0" marL="0">
              <a:buNone/>
            </a:pPr>
            <a:r>
              <a:rPr lang="ar-SA" altLang="en-US" sz="1300" b="1" dirty="0">
                <a:solidFill>
                  <a:srgbClr val="C7780F"/>
                </a:solidFill>
                <a:latin typeface="Arial" pitchFamily="34" charset="0"/>
                <a:ea typeface="Arial" pitchFamily="34" charset="-122"/>
                <a:cs typeface="Arial" pitchFamily="34" charset="-120"/>
              </a:rPr>
              <a:t>+ ١٤ يومًا</a:t>
            </a:r>
            <a:endParaRPr lang="ar-SA" sz="1300" dirty="0"/>
          </a:p>
        </p:txBody>
      </p:sp>
      <p:sp>
        <p:nvSpPr>
          <p:cNvPr id="17" name="Text 15"/>
          <p:cNvSpPr txBox="1"/>
          <p:nvPr/>
        </p:nvSpPr>
        <p:spPr>
          <a:xfrm>
            <a:off x="6403543" y="3035808"/>
            <a:ext cx="2148840" cy="411480"/>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مسؤول الإشراف</a:t>
            </a:r>
            <a:endParaRPr lang="ar-SA" sz="1500" dirty="0"/>
          </a:p>
        </p:txBody>
      </p:sp>
      <p:sp>
        <p:nvSpPr>
          <p:cNvPr id="18" name="Text 16"/>
          <p:cNvSpPr txBox="1"/>
          <p:nvPr/>
        </p:nvSpPr>
        <p:spPr>
          <a:xfrm>
            <a:off x="6403543" y="3465576"/>
            <a:ext cx="2148840" cy="731520"/>
          </a:xfrm>
          <a:prstGeom prst="rect">
            <a:avLst/>
          </a:prstGeom>
          <a:noFill/>
          <a:ln/>
        </p:spPr>
        <p:txBody>
          <a:bodyPr wrap="square" lIns="0" tIns="0" rIns="0" bIns="0" rtlCol="0" anchor="t"/>
          <a:lstStyle/>
          <a:p>
            <a:pPr rtl="1" algn="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تُصعَّد إليه ويُشعَر، ويستطيع التصرف فيها</a:t>
            </a:r>
            <a:endParaRPr lang="ar-SA" sz="1100" dirty="0"/>
          </a:p>
        </p:txBody>
      </p:sp>
      <p:sp>
        <p:nvSpPr>
          <p:cNvPr id="19" name="Shape 17"/>
          <p:cNvSpPr/>
          <p:nvPr/>
        </p:nvSpPr>
        <p:spPr>
          <a:xfrm>
            <a:off x="5937199" y="3081528"/>
            <a:ext cx="219456" cy="292608"/>
          </a:xfrm>
          <a:prstGeom prst="leftArrow">
            <a:avLst/>
          </a:prstGeom>
          <a:solidFill>
            <a:srgbClr val="D2ECF8"/>
          </a:solidFill>
          <a:ln w="12700">
            <a:solidFill>
              <a:srgbClr val="D2ECF8"/>
            </a:solidFill>
            <a:prstDash val="solid"/>
          </a:ln>
        </p:spPr>
      </p:sp>
      <p:sp>
        <p:nvSpPr>
          <p:cNvPr id="20" name="Shape 18"/>
          <p:cNvSpPr/>
          <p:nvPr/>
        </p:nvSpPr>
        <p:spPr>
          <a:xfrm>
            <a:off x="3312871" y="2185416"/>
            <a:ext cx="2606040" cy="2331720"/>
          </a:xfrm>
          <a:prstGeom prst="roundRect">
            <a:avLst>
              <a:gd name="adj" fmla="val 549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21" name="Shape 19"/>
          <p:cNvSpPr/>
          <p:nvPr/>
        </p:nvSpPr>
        <p:spPr>
          <a:xfrm>
            <a:off x="4958791" y="2386584"/>
            <a:ext cx="731520" cy="731520"/>
          </a:xfrm>
          <a:prstGeom prst="ellipse">
            <a:avLst/>
          </a:prstGeom>
          <a:solidFill>
            <a:srgbClr val="FFF0DE"/>
          </a:solidFill>
          <a:ln w="12700">
            <a:solidFill>
              <a:srgbClr val="FFF0DE"/>
            </a:solidFill>
            <a:prstDash val="solid"/>
          </a:ln>
        </p:spPr>
      </p:sp>
      <p:sp>
        <p:nvSpPr>
          <p:cNvPr id="22" name="Text 20"/>
          <p:cNvSpPr txBox="1"/>
          <p:nvPr/>
        </p:nvSpPr>
        <p:spPr>
          <a:xfrm>
            <a:off x="4958791" y="2386584"/>
            <a:ext cx="731520" cy="731520"/>
          </a:xfrm>
          <a:prstGeom prst="rect">
            <a:avLst/>
          </a:prstGeom>
          <a:noFill/>
          <a:ln/>
        </p:spPr>
        <p:txBody>
          <a:bodyPr wrap="square" lIns="0" tIns="0" rIns="0" bIns="0" rtlCol="0" anchor="ctr"/>
          <a:lstStyle/>
          <a:p>
            <a:pPr rtl="1" algn="ctr" indent="0" marL="0">
              <a:buNone/>
            </a:pPr>
            <a:r>
              <a:rPr lang="ar-SA" altLang="en-US" sz="2000" b="1" dirty="0">
                <a:solidFill>
                  <a:srgbClr val="D9822B"/>
                </a:solidFill>
                <a:latin typeface="Arial" pitchFamily="34" charset="0"/>
                <a:ea typeface="Arial" pitchFamily="34" charset="-122"/>
                <a:cs typeface="Arial" pitchFamily="34" charset="-120"/>
              </a:rPr>
              <a:t>٢٨</a:t>
            </a:r>
            <a:endParaRPr lang="ar-SA" sz="2000" dirty="0"/>
          </a:p>
        </p:txBody>
      </p:sp>
      <p:sp>
        <p:nvSpPr>
          <p:cNvPr id="23" name="Text 21"/>
          <p:cNvSpPr txBox="1"/>
          <p:nvPr/>
        </p:nvSpPr>
        <p:spPr>
          <a:xfrm>
            <a:off x="3541471" y="2386584"/>
            <a:ext cx="1417320" cy="320040"/>
          </a:xfrm>
          <a:prstGeom prst="rect">
            <a:avLst/>
          </a:prstGeom>
          <a:noFill/>
          <a:ln/>
        </p:spPr>
        <p:txBody>
          <a:bodyPr wrap="square" lIns="0" tIns="0" rIns="0" bIns="0" rtlCol="0" anchor="ctr"/>
          <a:lstStyle/>
          <a:p>
            <a:pPr rtl="1" algn="r" indent="0" marL="0">
              <a:buNone/>
            </a:pPr>
            <a:r>
              <a:rPr lang="ar-SA" altLang="en-US" sz="1000" dirty="0">
                <a:solidFill>
                  <a:srgbClr val="66788A"/>
                </a:solidFill>
                <a:latin typeface="Arial" pitchFamily="34" charset="0"/>
                <a:ea typeface="Arial" pitchFamily="34" charset="-122"/>
                <a:cs typeface="Arial" pitchFamily="34" charset="-120"/>
              </a:rPr>
              <a:t>يوم</a:t>
            </a:r>
            <a:endParaRPr lang="ar-SA" sz="1000" dirty="0"/>
          </a:p>
        </p:txBody>
      </p:sp>
      <p:sp>
        <p:nvSpPr>
          <p:cNvPr id="24" name="Text 22"/>
          <p:cNvSpPr txBox="1"/>
          <p:nvPr/>
        </p:nvSpPr>
        <p:spPr>
          <a:xfrm>
            <a:off x="3541471" y="2642616"/>
            <a:ext cx="1417320" cy="457200"/>
          </a:xfrm>
          <a:prstGeom prst="rect">
            <a:avLst/>
          </a:prstGeom>
          <a:noFill/>
          <a:ln/>
        </p:spPr>
        <p:txBody>
          <a:bodyPr wrap="square" lIns="0" tIns="0" rIns="0" bIns="0" rtlCol="0" anchor="ctr"/>
          <a:lstStyle/>
          <a:p>
            <a:pPr rtl="1" algn="r" indent="0" marL="0">
              <a:buNone/>
            </a:pPr>
            <a:r>
              <a:rPr lang="ar-SA" altLang="en-US" sz="1300" b="1" dirty="0">
                <a:solidFill>
                  <a:srgbClr val="D9822B"/>
                </a:solidFill>
                <a:latin typeface="Arial" pitchFamily="34" charset="0"/>
                <a:ea typeface="Arial" pitchFamily="34" charset="-122"/>
                <a:cs typeface="Arial" pitchFamily="34" charset="-120"/>
              </a:rPr>
              <a:t>+ ١٤ يومًا</a:t>
            </a:r>
            <a:endParaRPr lang="ar-SA" sz="1300" dirty="0"/>
          </a:p>
        </p:txBody>
      </p:sp>
      <p:sp>
        <p:nvSpPr>
          <p:cNvPr id="25" name="Text 23"/>
          <p:cNvSpPr txBox="1"/>
          <p:nvPr/>
        </p:nvSpPr>
        <p:spPr>
          <a:xfrm>
            <a:off x="3541471" y="3236976"/>
            <a:ext cx="2148840" cy="411480"/>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مسؤول تشغيل المنطقة</a:t>
            </a:r>
            <a:endParaRPr lang="ar-SA" sz="1500" dirty="0"/>
          </a:p>
        </p:txBody>
      </p:sp>
      <p:sp>
        <p:nvSpPr>
          <p:cNvPr id="26" name="Text 24"/>
          <p:cNvSpPr txBox="1"/>
          <p:nvPr/>
        </p:nvSpPr>
        <p:spPr>
          <a:xfrm>
            <a:off x="3541471" y="3666744"/>
            <a:ext cx="2148840" cy="731520"/>
          </a:xfrm>
          <a:prstGeom prst="rect">
            <a:avLst/>
          </a:prstGeom>
          <a:noFill/>
          <a:ln/>
        </p:spPr>
        <p:txBody>
          <a:bodyPr wrap="square" lIns="0" tIns="0" rIns="0" bIns="0" rtlCol="0" anchor="t"/>
          <a:lstStyle/>
          <a:p>
            <a:pPr rtl="1" algn="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التصعيد الثاني — اليوم ٢٨ بعد المهلة</a:t>
            </a:r>
            <a:endParaRPr lang="ar-SA" sz="1100" dirty="0"/>
          </a:p>
        </p:txBody>
      </p:sp>
      <p:sp>
        <p:nvSpPr>
          <p:cNvPr id="27" name="Shape 25"/>
          <p:cNvSpPr/>
          <p:nvPr/>
        </p:nvSpPr>
        <p:spPr>
          <a:xfrm>
            <a:off x="3075127" y="3282696"/>
            <a:ext cx="219456" cy="292608"/>
          </a:xfrm>
          <a:prstGeom prst="leftArrow">
            <a:avLst/>
          </a:prstGeom>
          <a:solidFill>
            <a:srgbClr val="D2ECF8"/>
          </a:solidFill>
          <a:ln w="12700">
            <a:solidFill>
              <a:srgbClr val="D2ECF8"/>
            </a:solidFill>
            <a:prstDash val="solid"/>
          </a:ln>
        </p:spPr>
      </p:sp>
      <p:sp>
        <p:nvSpPr>
          <p:cNvPr id="28" name="Shape 26"/>
          <p:cNvSpPr/>
          <p:nvPr/>
        </p:nvSpPr>
        <p:spPr>
          <a:xfrm>
            <a:off x="450799" y="2386584"/>
            <a:ext cx="2606040" cy="2331720"/>
          </a:xfrm>
          <a:prstGeom prst="roundRect">
            <a:avLst>
              <a:gd name="adj" fmla="val 549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29" name="Shape 27"/>
          <p:cNvSpPr/>
          <p:nvPr/>
        </p:nvSpPr>
        <p:spPr>
          <a:xfrm>
            <a:off x="2096719" y="2587752"/>
            <a:ext cx="731520" cy="731520"/>
          </a:xfrm>
          <a:prstGeom prst="ellipse">
            <a:avLst/>
          </a:prstGeom>
          <a:solidFill>
            <a:srgbClr val="FDEDED"/>
          </a:solidFill>
          <a:ln w="12700">
            <a:solidFill>
              <a:srgbClr val="FDEDED"/>
            </a:solidFill>
            <a:prstDash val="solid"/>
          </a:ln>
        </p:spPr>
      </p:sp>
      <p:sp>
        <p:nvSpPr>
          <p:cNvPr id="30" name="Text 28"/>
          <p:cNvSpPr txBox="1"/>
          <p:nvPr/>
        </p:nvSpPr>
        <p:spPr>
          <a:xfrm>
            <a:off x="2096719" y="2587752"/>
            <a:ext cx="731520" cy="731520"/>
          </a:xfrm>
          <a:prstGeom prst="rect">
            <a:avLst/>
          </a:prstGeom>
          <a:noFill/>
          <a:ln/>
        </p:spPr>
        <p:txBody>
          <a:bodyPr wrap="square" lIns="0" tIns="0" rIns="0" bIns="0" rtlCol="0" anchor="ctr"/>
          <a:lstStyle/>
          <a:p>
            <a:pPr rtl="1" algn="ctr" indent="0" marL="0">
              <a:buNone/>
            </a:pPr>
            <a:r>
              <a:rPr lang="ar-SA" altLang="en-US" sz="2000" b="1" dirty="0">
                <a:solidFill>
                  <a:srgbClr val="C63C3C"/>
                </a:solidFill>
                <a:latin typeface="Arial" pitchFamily="34" charset="0"/>
                <a:ea typeface="Arial" pitchFamily="34" charset="-122"/>
                <a:cs typeface="Arial" pitchFamily="34" charset="-120"/>
              </a:rPr>
              <a:t>٣٥</a:t>
            </a:r>
            <a:endParaRPr lang="ar-SA" sz="2000" dirty="0"/>
          </a:p>
        </p:txBody>
      </p:sp>
      <p:sp>
        <p:nvSpPr>
          <p:cNvPr id="31" name="Text 29"/>
          <p:cNvSpPr txBox="1"/>
          <p:nvPr/>
        </p:nvSpPr>
        <p:spPr>
          <a:xfrm>
            <a:off x="679399" y="2587752"/>
            <a:ext cx="1417320" cy="320040"/>
          </a:xfrm>
          <a:prstGeom prst="rect">
            <a:avLst/>
          </a:prstGeom>
          <a:noFill/>
          <a:ln/>
        </p:spPr>
        <p:txBody>
          <a:bodyPr wrap="square" lIns="0" tIns="0" rIns="0" bIns="0" rtlCol="0" anchor="ctr"/>
          <a:lstStyle/>
          <a:p>
            <a:pPr rtl="1" algn="r" indent="0" marL="0">
              <a:buNone/>
            </a:pPr>
            <a:r>
              <a:rPr lang="ar-SA" altLang="en-US" sz="1000" dirty="0">
                <a:solidFill>
                  <a:srgbClr val="66788A"/>
                </a:solidFill>
                <a:latin typeface="Arial" pitchFamily="34" charset="0"/>
                <a:ea typeface="Arial" pitchFamily="34" charset="-122"/>
                <a:cs typeface="Arial" pitchFamily="34" charset="-120"/>
              </a:rPr>
              <a:t>يوم</a:t>
            </a:r>
            <a:endParaRPr lang="ar-SA" sz="1000" dirty="0"/>
          </a:p>
        </p:txBody>
      </p:sp>
      <p:sp>
        <p:nvSpPr>
          <p:cNvPr id="32" name="Text 30"/>
          <p:cNvSpPr txBox="1"/>
          <p:nvPr/>
        </p:nvSpPr>
        <p:spPr>
          <a:xfrm>
            <a:off x="679399" y="2843784"/>
            <a:ext cx="1417320" cy="457200"/>
          </a:xfrm>
          <a:prstGeom prst="rect">
            <a:avLst/>
          </a:prstGeom>
          <a:noFill/>
          <a:ln/>
        </p:spPr>
        <p:txBody>
          <a:bodyPr wrap="square" lIns="0" tIns="0" rIns="0" bIns="0" rtlCol="0" anchor="ctr"/>
          <a:lstStyle/>
          <a:p>
            <a:pPr rtl="1" algn="r" indent="0" marL="0">
              <a:buNone/>
            </a:pPr>
            <a:r>
              <a:rPr lang="ar-SA" altLang="en-US" sz="1300" b="1" dirty="0">
                <a:solidFill>
                  <a:srgbClr val="C63C3C"/>
                </a:solidFill>
                <a:latin typeface="Arial" pitchFamily="34" charset="0"/>
                <a:ea typeface="Arial" pitchFamily="34" charset="-122"/>
                <a:cs typeface="Arial" pitchFamily="34" charset="-120"/>
              </a:rPr>
              <a:t>+ ٧ أيام</a:t>
            </a:r>
            <a:endParaRPr lang="ar-SA" sz="1300" dirty="0"/>
          </a:p>
        </p:txBody>
      </p:sp>
      <p:sp>
        <p:nvSpPr>
          <p:cNvPr id="33" name="Text 31"/>
          <p:cNvSpPr txBox="1"/>
          <p:nvPr/>
        </p:nvSpPr>
        <p:spPr>
          <a:xfrm>
            <a:off x="679399" y="3438144"/>
            <a:ext cx="2148840" cy="411480"/>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مدير العمليات</a:t>
            </a:r>
            <a:endParaRPr lang="ar-SA" sz="1500" dirty="0"/>
          </a:p>
        </p:txBody>
      </p:sp>
      <p:sp>
        <p:nvSpPr>
          <p:cNvPr id="34" name="Text 32"/>
          <p:cNvSpPr txBox="1"/>
          <p:nvPr/>
        </p:nvSpPr>
        <p:spPr>
          <a:xfrm>
            <a:off x="679399" y="3867912"/>
            <a:ext cx="2148840" cy="731520"/>
          </a:xfrm>
          <a:prstGeom prst="rect">
            <a:avLst/>
          </a:prstGeom>
          <a:noFill/>
          <a:ln/>
        </p:spPr>
        <p:txBody>
          <a:bodyPr wrap="square" lIns="0" tIns="0" rIns="0" bIns="0" rtlCol="0" anchor="t"/>
          <a:lstStyle/>
          <a:p>
            <a:pPr rtl="1" algn="r" indent="0" marL="0">
              <a:lnSpc>
                <a:spcPct val="120000"/>
              </a:lnSpc>
              <a:buNone/>
            </a:pPr>
            <a:r>
              <a:rPr lang="ar-SA" altLang="en-US" sz="1100" dirty="0">
                <a:solidFill>
                  <a:srgbClr val="66788A"/>
                </a:solidFill>
                <a:latin typeface="Arial" pitchFamily="34" charset="0"/>
                <a:ea typeface="Arial" pitchFamily="34" charset="-122"/>
                <a:cs typeface="Arial" pitchFamily="34" charset="-120"/>
              </a:rPr>
              <a:t>التصعيد النهائي — اليوم ٣٥ بعد المهلة</a:t>
            </a:r>
            <a:endParaRPr lang="ar-SA" sz="1100" dirty="0"/>
          </a:p>
        </p:txBody>
      </p:sp>
      <p:sp>
        <p:nvSpPr>
          <p:cNvPr id="35" name="Shape 33"/>
          <p:cNvSpPr/>
          <p:nvPr/>
        </p:nvSpPr>
        <p:spPr>
          <a:xfrm>
            <a:off x="548640" y="4892040"/>
            <a:ext cx="11094415" cy="1188720"/>
          </a:xfrm>
          <a:prstGeom prst="roundRect">
            <a:avLst>
              <a:gd name="adj" fmla="val 10769"/>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36" name="Shape 34"/>
          <p:cNvSpPr/>
          <p:nvPr/>
        </p:nvSpPr>
        <p:spPr>
          <a:xfrm>
            <a:off x="10865815" y="5093208"/>
            <a:ext cx="548640" cy="548640"/>
          </a:xfrm>
          <a:prstGeom prst="ellipse">
            <a:avLst/>
          </a:prstGeom>
          <a:solidFill>
            <a:srgbClr val="EAF6FC"/>
          </a:solidFill>
          <a:ln w="12700">
            <a:solidFill>
              <a:srgbClr val="EAF6FC"/>
            </a:solidFill>
            <a:prstDash val="solid"/>
          </a:ln>
        </p:spPr>
      </p:sp>
      <p:pic>
        <p:nvPicPr>
          <p:cNvPr id="37" name="Image 0" descr="preencoded.png">    </p:cNvPr>
          <p:cNvPicPr>
            <a:picLocks noChangeAspect="1"/>
          </p:cNvPicPr>
          <p:nvPr/>
        </p:nvPicPr>
        <p:blipFill>
          <a:blip r:embed="rId1"/>
          <a:stretch>
            <a:fillRect/>
          </a:stretch>
        </p:blipFill>
        <p:spPr>
          <a:xfrm>
            <a:off x="11002975" y="5230368"/>
            <a:ext cx="274320" cy="274320"/>
          </a:xfrm>
          <a:prstGeom prst="rect">
            <a:avLst/>
          </a:prstGeom>
        </p:spPr>
      </p:pic>
      <p:sp>
        <p:nvSpPr>
          <p:cNvPr id="38" name="Text 35"/>
          <p:cNvSpPr txBox="1"/>
          <p:nvPr/>
        </p:nvSpPr>
        <p:spPr>
          <a:xfrm>
            <a:off x="777240" y="5093208"/>
            <a:ext cx="9951415"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الأيام قابلة للتعديل من ورقة الإعدادات</a:t>
            </a:r>
            <a:endParaRPr lang="ar-SA" sz="1500" dirty="0"/>
          </a:p>
        </p:txBody>
      </p:sp>
      <p:sp>
        <p:nvSpPr>
          <p:cNvPr id="39" name="Text 36"/>
          <p:cNvSpPr txBox="1"/>
          <p:nvPr/>
        </p:nvSpPr>
        <p:spPr>
          <a:xfrm>
            <a:off x="777240" y="5760720"/>
            <a:ext cx="10637215" cy="18288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كل تصعيد يُسجَّل في سجل الملاحظة ويُشعَر به المشرف ومساعده والمصعَّد إليه. المفاتيح: ESCALATION_L1_DAYS · L2 · L3</a:t>
            </a:r>
            <a:endParaRPr lang="ar-SA" sz="1200" dirty="0"/>
          </a:p>
        </p:txBody>
      </p:sp>
      <p:sp>
        <p:nvSpPr>
          <p:cNvPr id="40" name="Text 37"/>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41" name="Text 38"/>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8</a:t>
            </a:r>
            <a:endParaRPr lang="ar-SA"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طلبات الزيارة وتنبيه التأخر</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دور مدير العمليات: يطلب ويوجّه، ولا يعتمد</a:t>
            </a:r>
            <a:endParaRPr lang="ar-SA" sz="1500" dirty="0"/>
          </a:p>
        </p:txBody>
      </p:sp>
      <p:sp>
        <p:nvSpPr>
          <p:cNvPr id="4" name="Shape 2"/>
          <p:cNvSpPr/>
          <p:nvPr/>
        </p:nvSpPr>
        <p:spPr>
          <a:xfrm>
            <a:off x="6156655" y="1783080"/>
            <a:ext cx="5486400" cy="4297680"/>
          </a:xfrm>
          <a:prstGeom prst="roundRect">
            <a:avLst>
              <a:gd name="adj" fmla="val 2979"/>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5" name="Shape 3"/>
          <p:cNvSpPr/>
          <p:nvPr/>
        </p:nvSpPr>
        <p:spPr>
          <a:xfrm>
            <a:off x="10865815" y="1984248"/>
            <a:ext cx="548640" cy="548640"/>
          </a:xfrm>
          <a:prstGeom prst="ellipse">
            <a:avLst/>
          </a:prstGeom>
          <a:solidFill>
            <a:srgbClr val="EAF6FC"/>
          </a:solidFill>
          <a:ln w="12700">
            <a:solidFill>
              <a:srgbClr val="EAF6FC"/>
            </a:solidFill>
            <a:prstDash val="solid"/>
          </a:ln>
        </p:spPr>
      </p:sp>
      <p:pic>
        <p:nvPicPr>
          <p:cNvPr id="6" name="Image 0" descr="preencoded.png">    </p:cNvPr>
          <p:cNvPicPr>
            <a:picLocks noChangeAspect="1"/>
          </p:cNvPicPr>
          <p:nvPr/>
        </p:nvPicPr>
        <p:blipFill>
          <a:blip r:embed="rId1"/>
          <a:stretch>
            <a:fillRect/>
          </a:stretch>
        </p:blipFill>
        <p:spPr>
          <a:xfrm>
            <a:off x="11002975" y="2121408"/>
            <a:ext cx="274320" cy="274320"/>
          </a:xfrm>
          <a:prstGeom prst="rect">
            <a:avLst/>
          </a:prstGeom>
        </p:spPr>
      </p:pic>
      <p:sp>
        <p:nvSpPr>
          <p:cNvPr id="7" name="Text 4"/>
          <p:cNvSpPr txBox="1"/>
          <p:nvPr/>
        </p:nvSpPr>
        <p:spPr>
          <a:xfrm>
            <a:off x="6385255" y="198424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طلب زيارة من مدير العمليات</a:t>
            </a:r>
            <a:endParaRPr lang="ar-SA" sz="1500" dirty="0"/>
          </a:p>
        </p:txBody>
      </p:sp>
      <p:sp>
        <p:nvSpPr>
          <p:cNvPr id="8" name="Text 5"/>
          <p:cNvSpPr txBox="1"/>
          <p:nvPr/>
        </p:nvSpPr>
        <p:spPr>
          <a:xfrm>
            <a:off x="6385255" y="2651760"/>
            <a:ext cx="5029200" cy="3291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يختار المحطة ونوع الزيارة وتاريخًا قبله وملاحظة.</a:t>
            </a:r>
            <a:endParaRPr lang="ar-SA" sz="1200" dirty="0"/>
          </a:p>
          <a:p>
            <a:pPr rtl="1" algn="r" indent="0" marL="0">
              <a:lnSpc>
                <a:spcPct val="125000"/>
              </a:lnSpc>
              <a:buNone/>
            </a:pPr>
            <a:endParaRPr lang="ar-SA" sz="1200" dirty="0"/>
          </a:p>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يصل الطلب فورًا إلى المشرف المسند إليه المحطة ومساعده بإشعار، ويظهر للمشرف تنبيه أزرق في صفحة المحطة.</a:t>
            </a:r>
            <a:endParaRPr lang="ar-SA" sz="1200" dirty="0"/>
          </a:p>
          <a:p>
            <a:pPr rtl="1" algn="r" indent="0" marL="0">
              <a:lnSpc>
                <a:spcPct val="125000"/>
              </a:lnSpc>
              <a:buNone/>
            </a:pPr>
            <a:endParaRPr lang="ar-SA" sz="1200" dirty="0"/>
          </a:p>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عند إرسال زيارة مطابقة يُغلق الطلب تلقائيًا ويُشعَر مدير العمليات بأنه نُفِّذ.</a:t>
            </a:r>
            <a:endParaRPr lang="ar-SA" sz="1200" dirty="0"/>
          </a:p>
          <a:p>
            <a:pPr rtl="1" algn="r" indent="0" marL="0">
              <a:lnSpc>
                <a:spcPct val="125000"/>
              </a:lnSpc>
              <a:buNone/>
            </a:pPr>
            <a:endParaRPr lang="ar-SA" sz="1200" dirty="0"/>
          </a:p>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المساعد يستطيع إعادة توجيه الطلب إلى مشرف آخر مسندة إليه المحطة، ومن طلبه يستطيع إلغاءه.</a:t>
            </a:r>
            <a:endParaRPr lang="ar-SA" sz="1200" dirty="0"/>
          </a:p>
        </p:txBody>
      </p:sp>
      <p:sp>
        <p:nvSpPr>
          <p:cNvPr id="9" name="Shape 6"/>
          <p:cNvSpPr/>
          <p:nvPr/>
        </p:nvSpPr>
        <p:spPr>
          <a:xfrm>
            <a:off x="548640" y="1783080"/>
            <a:ext cx="5486400" cy="2011680"/>
          </a:xfrm>
          <a:prstGeom prst="roundRect">
            <a:avLst>
              <a:gd name="adj" fmla="val 6364"/>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0" name="Shape 7"/>
          <p:cNvSpPr/>
          <p:nvPr/>
        </p:nvSpPr>
        <p:spPr>
          <a:xfrm>
            <a:off x="5257800" y="1984248"/>
            <a:ext cx="548640" cy="548640"/>
          </a:xfrm>
          <a:prstGeom prst="ellipse">
            <a:avLst/>
          </a:prstGeom>
          <a:solidFill>
            <a:srgbClr val="FFF5E6"/>
          </a:solidFill>
          <a:ln w="12700">
            <a:solidFill>
              <a:srgbClr val="FFF5E6"/>
            </a:solidFill>
            <a:prstDash val="solid"/>
          </a:ln>
        </p:spPr>
      </p:sp>
      <p:pic>
        <p:nvPicPr>
          <p:cNvPr id="11" name="Image 1" descr="preencoded.png">    </p:cNvPr>
          <p:cNvPicPr>
            <a:picLocks noChangeAspect="1"/>
          </p:cNvPicPr>
          <p:nvPr/>
        </p:nvPicPr>
        <p:blipFill>
          <a:blip r:embed="rId2"/>
          <a:stretch>
            <a:fillRect/>
          </a:stretch>
        </p:blipFill>
        <p:spPr>
          <a:xfrm>
            <a:off x="5394960" y="2121408"/>
            <a:ext cx="274320" cy="274320"/>
          </a:xfrm>
          <a:prstGeom prst="rect">
            <a:avLst/>
          </a:prstGeom>
        </p:spPr>
      </p:pic>
      <p:sp>
        <p:nvSpPr>
          <p:cNvPr id="12" name="Text 8"/>
          <p:cNvSpPr txBox="1"/>
          <p:nvPr/>
        </p:nvSpPr>
        <p:spPr>
          <a:xfrm>
            <a:off x="777240" y="198424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تأخر اليومية ١٥ يومًا</a:t>
            </a:r>
            <a:endParaRPr lang="ar-SA" sz="1500" dirty="0"/>
          </a:p>
        </p:txBody>
      </p:sp>
      <p:sp>
        <p:nvSpPr>
          <p:cNvPr id="13" name="Text 9"/>
          <p:cNvSpPr txBox="1"/>
          <p:nvPr/>
        </p:nvSpPr>
        <p:spPr>
          <a:xfrm>
            <a:off x="777240" y="2651760"/>
            <a:ext cx="5029200" cy="1005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إذا مرّ ١٥ يومًا بلا زيارة يومية على محطة، يُنبَّه المشرف ومساعده ومدير العمليات، مرة واحدة لكل تأخر. المدة قابلة للتعديل.</a:t>
            </a:r>
            <a:endParaRPr lang="ar-SA" sz="1200" dirty="0"/>
          </a:p>
        </p:txBody>
      </p:sp>
      <p:sp>
        <p:nvSpPr>
          <p:cNvPr id="14" name="Shape 10"/>
          <p:cNvSpPr/>
          <p:nvPr/>
        </p:nvSpPr>
        <p:spPr>
          <a:xfrm>
            <a:off x="548640" y="4069080"/>
            <a:ext cx="5486400" cy="2011680"/>
          </a:xfrm>
          <a:prstGeom prst="roundRect">
            <a:avLst>
              <a:gd name="adj" fmla="val 6364"/>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5" name="Shape 11"/>
          <p:cNvSpPr/>
          <p:nvPr/>
        </p:nvSpPr>
        <p:spPr>
          <a:xfrm>
            <a:off x="5257800" y="4270248"/>
            <a:ext cx="548640" cy="548640"/>
          </a:xfrm>
          <a:prstGeom prst="ellipse">
            <a:avLst/>
          </a:prstGeom>
          <a:solidFill>
            <a:srgbClr val="EAF6FC"/>
          </a:solidFill>
          <a:ln w="12700">
            <a:solidFill>
              <a:srgbClr val="EAF6FC"/>
            </a:solidFill>
            <a:prstDash val="solid"/>
          </a:ln>
        </p:spPr>
      </p:sp>
      <p:pic>
        <p:nvPicPr>
          <p:cNvPr id="16" name="Image 2" descr="preencoded.png">    </p:cNvPr>
          <p:cNvPicPr>
            <a:picLocks noChangeAspect="1"/>
          </p:cNvPicPr>
          <p:nvPr/>
        </p:nvPicPr>
        <p:blipFill>
          <a:blip r:embed="rId3"/>
          <a:stretch>
            <a:fillRect/>
          </a:stretch>
        </p:blipFill>
        <p:spPr>
          <a:xfrm>
            <a:off x="5394960" y="4407408"/>
            <a:ext cx="274320" cy="274320"/>
          </a:xfrm>
          <a:prstGeom prst="rect">
            <a:avLst/>
          </a:prstGeom>
        </p:spPr>
      </p:pic>
      <p:sp>
        <p:nvSpPr>
          <p:cNvPr id="17" name="Text 12"/>
          <p:cNvSpPr txBox="1"/>
          <p:nvPr/>
        </p:nvSpPr>
        <p:spPr>
          <a:xfrm>
            <a:off x="777240" y="4270248"/>
            <a:ext cx="434340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إعادة الإسناد</a:t>
            </a:r>
            <a:endParaRPr lang="ar-SA" sz="1500" dirty="0"/>
          </a:p>
        </p:txBody>
      </p:sp>
      <p:sp>
        <p:nvSpPr>
          <p:cNvPr id="18" name="Text 13"/>
          <p:cNvSpPr txBox="1"/>
          <p:nvPr/>
        </p:nvSpPr>
        <p:spPr>
          <a:xfrm>
            <a:off x="777240" y="4937760"/>
            <a:ext cx="5029200" cy="100584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مدير العمليات ومساعد الإشراف يستطيعان إعادة إسناد زيارة معلّقة إلى معتمِد آخر، فتغادر طابور الأول وتظهر في طابور الثاني فورًا.</a:t>
            </a:r>
            <a:endParaRPr lang="ar-SA" sz="1200" dirty="0"/>
          </a:p>
        </p:txBody>
      </p:sp>
      <p:sp>
        <p:nvSpPr>
          <p:cNvPr id="19" name="Text 14"/>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20" name="Text 15"/>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9</a:t>
            </a:r>
            <a:endParaRPr lang="ar-SA"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مركز الإشعارات · لا شيء يمر بصمت</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جرس في أعلى الشاشة يتحدث كل دقيقة، والنقر على الإشعار يفتح ما يخصه مباشرة</a:t>
            </a:r>
            <a:endParaRPr lang="ar-SA" sz="1500" dirty="0"/>
          </a:p>
        </p:txBody>
      </p:sp>
      <p:sp>
        <p:nvSpPr>
          <p:cNvPr id="4" name="Shape 2"/>
          <p:cNvSpPr/>
          <p:nvPr/>
        </p:nvSpPr>
        <p:spPr>
          <a:xfrm>
            <a:off x="6233008" y="1828800"/>
            <a:ext cx="5410048" cy="804672"/>
          </a:xfrm>
          <a:prstGeom prst="roundRect">
            <a:avLst>
              <a:gd name="adj" fmla="val 13636"/>
            </a:avLst>
          </a:prstGeom>
          <a:solidFill>
            <a:srgbClr val="FFFFFF"/>
          </a:solidFill>
          <a:ln w="9525">
            <a:solidFill>
              <a:srgbClr val="E3E9EE"/>
            </a:solidFill>
            <a:prstDash val="solid"/>
          </a:ln>
        </p:spPr>
      </p:sp>
      <p:sp>
        <p:nvSpPr>
          <p:cNvPr id="5" name="Shape 3"/>
          <p:cNvSpPr/>
          <p:nvPr/>
        </p:nvSpPr>
        <p:spPr>
          <a:xfrm>
            <a:off x="10911535" y="1956816"/>
            <a:ext cx="548640" cy="548640"/>
          </a:xfrm>
          <a:prstGeom prst="ellipse">
            <a:avLst/>
          </a:prstGeom>
          <a:solidFill>
            <a:srgbClr val="EAF6FC"/>
          </a:solidFill>
          <a:ln w="12700">
            <a:solidFill>
              <a:srgbClr val="EAF6FC"/>
            </a:solidFill>
            <a:prstDash val="solid"/>
          </a:ln>
        </p:spPr>
      </p:sp>
      <p:pic>
        <p:nvPicPr>
          <p:cNvPr id="6" name="Image 0" descr="preencoded.png">    </p:cNvPr>
          <p:cNvPicPr>
            <a:picLocks noChangeAspect="1"/>
          </p:cNvPicPr>
          <p:nvPr/>
        </p:nvPicPr>
        <p:blipFill>
          <a:blip r:embed="rId1"/>
          <a:stretch>
            <a:fillRect/>
          </a:stretch>
        </p:blipFill>
        <p:spPr>
          <a:xfrm>
            <a:off x="11048695" y="2093976"/>
            <a:ext cx="274320" cy="274320"/>
          </a:xfrm>
          <a:prstGeom prst="rect">
            <a:avLst/>
          </a:prstGeom>
        </p:spPr>
      </p:pic>
      <p:sp>
        <p:nvSpPr>
          <p:cNvPr id="7" name="Text 4"/>
          <p:cNvSpPr txBox="1"/>
          <p:nvPr/>
        </p:nvSpPr>
        <p:spPr>
          <a:xfrm>
            <a:off x="6415888" y="1920240"/>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زيارة بانتظار اعتمادك</a:t>
            </a:r>
            <a:endParaRPr lang="ar-SA" sz="1350" dirty="0"/>
          </a:p>
        </p:txBody>
      </p:sp>
      <p:sp>
        <p:nvSpPr>
          <p:cNvPr id="8" name="Text 5"/>
          <p:cNvSpPr txBox="1"/>
          <p:nvPr/>
        </p:nvSpPr>
        <p:spPr>
          <a:xfrm>
            <a:off x="6415888" y="2249424"/>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للمساعد فور إرسال المشرف</a:t>
            </a:r>
            <a:endParaRPr lang="ar-SA" sz="1100" dirty="0"/>
          </a:p>
        </p:txBody>
      </p:sp>
      <p:sp>
        <p:nvSpPr>
          <p:cNvPr id="9" name="Shape 6"/>
          <p:cNvSpPr/>
          <p:nvPr/>
        </p:nvSpPr>
        <p:spPr>
          <a:xfrm>
            <a:off x="6233008" y="2816352"/>
            <a:ext cx="5410048" cy="804672"/>
          </a:xfrm>
          <a:prstGeom prst="roundRect">
            <a:avLst>
              <a:gd name="adj" fmla="val 13636"/>
            </a:avLst>
          </a:prstGeom>
          <a:solidFill>
            <a:srgbClr val="FFFFFF"/>
          </a:solidFill>
          <a:ln w="9525">
            <a:solidFill>
              <a:srgbClr val="E3E9EE"/>
            </a:solidFill>
            <a:prstDash val="solid"/>
          </a:ln>
        </p:spPr>
      </p:sp>
      <p:sp>
        <p:nvSpPr>
          <p:cNvPr id="10" name="Shape 7"/>
          <p:cNvSpPr/>
          <p:nvPr/>
        </p:nvSpPr>
        <p:spPr>
          <a:xfrm>
            <a:off x="10911535" y="2944368"/>
            <a:ext cx="548640" cy="548640"/>
          </a:xfrm>
          <a:prstGeom prst="ellipse">
            <a:avLst/>
          </a:prstGeom>
          <a:solidFill>
            <a:srgbClr val="E8F7EF"/>
          </a:solidFill>
          <a:ln w="12700">
            <a:solidFill>
              <a:srgbClr val="E8F7EF"/>
            </a:solidFill>
            <a:prstDash val="solid"/>
          </a:ln>
        </p:spPr>
      </p:sp>
      <p:pic>
        <p:nvPicPr>
          <p:cNvPr id="11" name="Image 1" descr="preencoded.png">    </p:cNvPr>
          <p:cNvPicPr>
            <a:picLocks noChangeAspect="1"/>
          </p:cNvPicPr>
          <p:nvPr/>
        </p:nvPicPr>
        <p:blipFill>
          <a:blip r:embed="rId2"/>
          <a:stretch>
            <a:fillRect/>
          </a:stretch>
        </p:blipFill>
        <p:spPr>
          <a:xfrm>
            <a:off x="11048695" y="3081528"/>
            <a:ext cx="274320" cy="274320"/>
          </a:xfrm>
          <a:prstGeom prst="rect">
            <a:avLst/>
          </a:prstGeom>
        </p:spPr>
      </p:pic>
      <p:sp>
        <p:nvSpPr>
          <p:cNvPr id="12" name="Text 8"/>
          <p:cNvSpPr txBox="1"/>
          <p:nvPr/>
        </p:nvSpPr>
        <p:spPr>
          <a:xfrm>
            <a:off x="6415888" y="2907792"/>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اعتماد أو رفض زيارتك</a:t>
            </a:r>
            <a:endParaRPr lang="ar-SA" sz="1350" dirty="0"/>
          </a:p>
        </p:txBody>
      </p:sp>
      <p:sp>
        <p:nvSpPr>
          <p:cNvPr id="13" name="Text 9"/>
          <p:cNvSpPr txBox="1"/>
          <p:nvPr/>
        </p:nvSpPr>
        <p:spPr>
          <a:xfrm>
            <a:off x="6415888" y="3236976"/>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للمشرف مع السبب عند الرفض</a:t>
            </a:r>
            <a:endParaRPr lang="ar-SA" sz="1100" dirty="0"/>
          </a:p>
        </p:txBody>
      </p:sp>
      <p:sp>
        <p:nvSpPr>
          <p:cNvPr id="14" name="Shape 10"/>
          <p:cNvSpPr/>
          <p:nvPr/>
        </p:nvSpPr>
        <p:spPr>
          <a:xfrm>
            <a:off x="6233008" y="3803904"/>
            <a:ext cx="5410048" cy="804672"/>
          </a:xfrm>
          <a:prstGeom prst="roundRect">
            <a:avLst>
              <a:gd name="adj" fmla="val 13636"/>
            </a:avLst>
          </a:prstGeom>
          <a:solidFill>
            <a:srgbClr val="FFFFFF"/>
          </a:solidFill>
          <a:ln w="9525">
            <a:solidFill>
              <a:srgbClr val="E3E9EE"/>
            </a:solidFill>
            <a:prstDash val="solid"/>
          </a:ln>
        </p:spPr>
      </p:sp>
      <p:sp>
        <p:nvSpPr>
          <p:cNvPr id="15" name="Shape 11"/>
          <p:cNvSpPr/>
          <p:nvPr/>
        </p:nvSpPr>
        <p:spPr>
          <a:xfrm>
            <a:off x="10911535" y="3931920"/>
            <a:ext cx="548640" cy="548640"/>
          </a:xfrm>
          <a:prstGeom prst="ellipse">
            <a:avLst/>
          </a:prstGeom>
          <a:solidFill>
            <a:srgbClr val="FFF5E6"/>
          </a:solidFill>
          <a:ln w="12700">
            <a:solidFill>
              <a:srgbClr val="FFF5E6"/>
            </a:solidFill>
            <a:prstDash val="solid"/>
          </a:ln>
        </p:spPr>
      </p:sp>
      <p:pic>
        <p:nvPicPr>
          <p:cNvPr id="16" name="Image 2" descr="preencoded.png">    </p:cNvPr>
          <p:cNvPicPr>
            <a:picLocks noChangeAspect="1"/>
          </p:cNvPicPr>
          <p:nvPr/>
        </p:nvPicPr>
        <p:blipFill>
          <a:blip r:embed="rId3"/>
          <a:stretch>
            <a:fillRect/>
          </a:stretch>
        </p:blipFill>
        <p:spPr>
          <a:xfrm>
            <a:off x="11048695" y="4069080"/>
            <a:ext cx="274320" cy="274320"/>
          </a:xfrm>
          <a:prstGeom prst="rect">
            <a:avLst/>
          </a:prstGeom>
        </p:spPr>
      </p:pic>
      <p:sp>
        <p:nvSpPr>
          <p:cNvPr id="17" name="Text 12"/>
          <p:cNvSpPr txBox="1"/>
          <p:nvPr/>
        </p:nvSpPr>
        <p:spPr>
          <a:xfrm>
            <a:off x="6415888" y="3895344"/>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ملاحظات جديدة للمعالجة</a:t>
            </a:r>
            <a:endParaRPr lang="ar-SA" sz="1350" dirty="0"/>
          </a:p>
        </p:txBody>
      </p:sp>
      <p:sp>
        <p:nvSpPr>
          <p:cNvPr id="18" name="Text 13"/>
          <p:cNvSpPr txBox="1"/>
          <p:nvPr/>
        </p:nvSpPr>
        <p:spPr>
          <a:xfrm>
            <a:off x="6415888" y="4224528"/>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للمشرف مع عددها ومهلتها</a:t>
            </a:r>
            <a:endParaRPr lang="ar-SA" sz="1100" dirty="0"/>
          </a:p>
        </p:txBody>
      </p:sp>
      <p:sp>
        <p:nvSpPr>
          <p:cNvPr id="19" name="Shape 14"/>
          <p:cNvSpPr/>
          <p:nvPr/>
        </p:nvSpPr>
        <p:spPr>
          <a:xfrm>
            <a:off x="6233008" y="4791456"/>
            <a:ext cx="5410048" cy="804672"/>
          </a:xfrm>
          <a:prstGeom prst="roundRect">
            <a:avLst>
              <a:gd name="adj" fmla="val 13636"/>
            </a:avLst>
          </a:prstGeom>
          <a:solidFill>
            <a:srgbClr val="FFFFFF"/>
          </a:solidFill>
          <a:ln w="9525">
            <a:solidFill>
              <a:srgbClr val="E3E9EE"/>
            </a:solidFill>
            <a:prstDash val="solid"/>
          </a:ln>
        </p:spPr>
      </p:sp>
      <p:sp>
        <p:nvSpPr>
          <p:cNvPr id="20" name="Shape 15"/>
          <p:cNvSpPr/>
          <p:nvPr/>
        </p:nvSpPr>
        <p:spPr>
          <a:xfrm>
            <a:off x="10911535" y="4919472"/>
            <a:ext cx="548640" cy="548640"/>
          </a:xfrm>
          <a:prstGeom prst="ellipse">
            <a:avLst/>
          </a:prstGeom>
          <a:solidFill>
            <a:srgbClr val="FDEDED"/>
          </a:solidFill>
          <a:ln w="12700">
            <a:solidFill>
              <a:srgbClr val="FDEDED"/>
            </a:solidFill>
            <a:prstDash val="solid"/>
          </a:ln>
        </p:spPr>
      </p:sp>
      <p:pic>
        <p:nvPicPr>
          <p:cNvPr id="21" name="Image 3" descr="preencoded.png">    </p:cNvPr>
          <p:cNvPicPr>
            <a:picLocks noChangeAspect="1"/>
          </p:cNvPicPr>
          <p:nvPr/>
        </p:nvPicPr>
        <p:blipFill>
          <a:blip r:embed="rId4"/>
          <a:stretch>
            <a:fillRect/>
          </a:stretch>
        </p:blipFill>
        <p:spPr>
          <a:xfrm>
            <a:off x="11048695" y="5056632"/>
            <a:ext cx="274320" cy="274320"/>
          </a:xfrm>
          <a:prstGeom prst="rect">
            <a:avLst/>
          </a:prstGeom>
        </p:spPr>
      </p:pic>
      <p:sp>
        <p:nvSpPr>
          <p:cNvPr id="22" name="Text 16"/>
          <p:cNvSpPr txBox="1"/>
          <p:nvPr/>
        </p:nvSpPr>
        <p:spPr>
          <a:xfrm>
            <a:off x="6415888" y="4882896"/>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تصعيد ملاحظة</a:t>
            </a:r>
            <a:endParaRPr lang="ar-SA" sz="1350" dirty="0"/>
          </a:p>
        </p:txBody>
      </p:sp>
      <p:sp>
        <p:nvSpPr>
          <p:cNvPr id="23" name="Text 17"/>
          <p:cNvSpPr txBox="1"/>
          <p:nvPr/>
        </p:nvSpPr>
        <p:spPr>
          <a:xfrm>
            <a:off x="6415888" y="5212080"/>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للمصعَّد إليه وللمشرف ومساعده</a:t>
            </a:r>
            <a:endParaRPr lang="ar-SA" sz="1100" dirty="0"/>
          </a:p>
        </p:txBody>
      </p:sp>
      <p:sp>
        <p:nvSpPr>
          <p:cNvPr id="24" name="Shape 18"/>
          <p:cNvSpPr/>
          <p:nvPr/>
        </p:nvSpPr>
        <p:spPr>
          <a:xfrm>
            <a:off x="548640" y="1828800"/>
            <a:ext cx="5410048" cy="804672"/>
          </a:xfrm>
          <a:prstGeom prst="roundRect">
            <a:avLst>
              <a:gd name="adj" fmla="val 13636"/>
            </a:avLst>
          </a:prstGeom>
          <a:solidFill>
            <a:srgbClr val="FFFFFF"/>
          </a:solidFill>
          <a:ln w="9525">
            <a:solidFill>
              <a:srgbClr val="E3E9EE"/>
            </a:solidFill>
            <a:prstDash val="solid"/>
          </a:ln>
        </p:spPr>
      </p:sp>
      <p:sp>
        <p:nvSpPr>
          <p:cNvPr id="25" name="Shape 19"/>
          <p:cNvSpPr/>
          <p:nvPr/>
        </p:nvSpPr>
        <p:spPr>
          <a:xfrm>
            <a:off x="5227168" y="1956816"/>
            <a:ext cx="548640" cy="548640"/>
          </a:xfrm>
          <a:prstGeom prst="ellipse">
            <a:avLst/>
          </a:prstGeom>
          <a:solidFill>
            <a:srgbClr val="FDEDED"/>
          </a:solidFill>
          <a:ln w="12700">
            <a:solidFill>
              <a:srgbClr val="FDEDED"/>
            </a:solidFill>
            <a:prstDash val="solid"/>
          </a:ln>
        </p:spPr>
      </p:sp>
      <p:pic>
        <p:nvPicPr>
          <p:cNvPr id="26" name="Image 4" descr="preencoded.png">    </p:cNvPr>
          <p:cNvPicPr>
            <a:picLocks noChangeAspect="1"/>
          </p:cNvPicPr>
          <p:nvPr/>
        </p:nvPicPr>
        <p:blipFill>
          <a:blip r:embed="rId5"/>
          <a:stretch>
            <a:fillRect/>
          </a:stretch>
        </p:blipFill>
        <p:spPr>
          <a:xfrm>
            <a:off x="5364328" y="2093976"/>
            <a:ext cx="274320" cy="274320"/>
          </a:xfrm>
          <a:prstGeom prst="rect">
            <a:avLst/>
          </a:prstGeom>
        </p:spPr>
      </p:pic>
      <p:sp>
        <p:nvSpPr>
          <p:cNvPr id="27" name="Text 20"/>
          <p:cNvSpPr txBox="1"/>
          <p:nvPr/>
        </p:nvSpPr>
        <p:spPr>
          <a:xfrm>
            <a:off x="731520" y="1920240"/>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ملاحظة عاجلة</a:t>
            </a:r>
            <a:endParaRPr lang="ar-SA" sz="1350" dirty="0"/>
          </a:p>
        </p:txBody>
      </p:sp>
      <p:sp>
        <p:nvSpPr>
          <p:cNvPr id="28" name="Text 21"/>
          <p:cNvSpPr txBox="1"/>
          <p:nvPr/>
        </p:nvSpPr>
        <p:spPr>
          <a:xfrm>
            <a:off x="731520" y="2249424"/>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للمشرف ومساعده عند نقل الأولوية</a:t>
            </a:r>
            <a:endParaRPr lang="ar-SA" sz="1100" dirty="0"/>
          </a:p>
        </p:txBody>
      </p:sp>
      <p:sp>
        <p:nvSpPr>
          <p:cNvPr id="29" name="Shape 22"/>
          <p:cNvSpPr/>
          <p:nvPr/>
        </p:nvSpPr>
        <p:spPr>
          <a:xfrm>
            <a:off x="548640" y="2816352"/>
            <a:ext cx="5410048" cy="804672"/>
          </a:xfrm>
          <a:prstGeom prst="roundRect">
            <a:avLst>
              <a:gd name="adj" fmla="val 13636"/>
            </a:avLst>
          </a:prstGeom>
          <a:solidFill>
            <a:srgbClr val="FFFFFF"/>
          </a:solidFill>
          <a:ln w="9525">
            <a:solidFill>
              <a:srgbClr val="E3E9EE"/>
            </a:solidFill>
            <a:prstDash val="solid"/>
          </a:ln>
        </p:spPr>
      </p:sp>
      <p:sp>
        <p:nvSpPr>
          <p:cNvPr id="30" name="Shape 23"/>
          <p:cNvSpPr/>
          <p:nvPr/>
        </p:nvSpPr>
        <p:spPr>
          <a:xfrm>
            <a:off x="5227168" y="2944368"/>
            <a:ext cx="548640" cy="548640"/>
          </a:xfrm>
          <a:prstGeom prst="ellipse">
            <a:avLst/>
          </a:prstGeom>
          <a:solidFill>
            <a:srgbClr val="FFF5E6"/>
          </a:solidFill>
          <a:ln w="12700">
            <a:solidFill>
              <a:srgbClr val="FFF5E6"/>
            </a:solidFill>
            <a:prstDash val="solid"/>
          </a:ln>
        </p:spPr>
      </p:sp>
      <p:pic>
        <p:nvPicPr>
          <p:cNvPr id="31" name="Image 5" descr="preencoded.png">    </p:cNvPr>
          <p:cNvPicPr>
            <a:picLocks noChangeAspect="1"/>
          </p:cNvPicPr>
          <p:nvPr/>
        </p:nvPicPr>
        <p:blipFill>
          <a:blip r:embed="rId6"/>
          <a:stretch>
            <a:fillRect/>
          </a:stretch>
        </p:blipFill>
        <p:spPr>
          <a:xfrm>
            <a:off x="5364328" y="3081528"/>
            <a:ext cx="274320" cy="274320"/>
          </a:xfrm>
          <a:prstGeom prst="rect">
            <a:avLst/>
          </a:prstGeom>
        </p:spPr>
      </p:pic>
      <p:sp>
        <p:nvSpPr>
          <p:cNvPr id="32" name="Text 24"/>
          <p:cNvSpPr txBox="1"/>
          <p:nvPr/>
        </p:nvSpPr>
        <p:spPr>
          <a:xfrm>
            <a:off x="731520" y="2907792"/>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تأخر الزيارة اليومية</a:t>
            </a:r>
            <a:endParaRPr lang="ar-SA" sz="1350" dirty="0"/>
          </a:p>
        </p:txBody>
      </p:sp>
      <p:sp>
        <p:nvSpPr>
          <p:cNvPr id="33" name="Text 25"/>
          <p:cNvSpPr txBox="1"/>
          <p:nvPr/>
        </p:nvSpPr>
        <p:spPr>
          <a:xfrm>
            <a:off x="731520" y="3236976"/>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للمشرف ومساعده ومدير العمليات</a:t>
            </a:r>
            <a:endParaRPr lang="ar-SA" sz="1100" dirty="0"/>
          </a:p>
        </p:txBody>
      </p:sp>
      <p:sp>
        <p:nvSpPr>
          <p:cNvPr id="34" name="Shape 26"/>
          <p:cNvSpPr/>
          <p:nvPr/>
        </p:nvSpPr>
        <p:spPr>
          <a:xfrm>
            <a:off x="548640" y="3803904"/>
            <a:ext cx="5410048" cy="804672"/>
          </a:xfrm>
          <a:prstGeom prst="roundRect">
            <a:avLst>
              <a:gd name="adj" fmla="val 13636"/>
            </a:avLst>
          </a:prstGeom>
          <a:solidFill>
            <a:srgbClr val="FFFFFF"/>
          </a:solidFill>
          <a:ln w="9525">
            <a:solidFill>
              <a:srgbClr val="E3E9EE"/>
            </a:solidFill>
            <a:prstDash val="solid"/>
          </a:ln>
        </p:spPr>
      </p:sp>
      <p:sp>
        <p:nvSpPr>
          <p:cNvPr id="35" name="Shape 27"/>
          <p:cNvSpPr/>
          <p:nvPr/>
        </p:nvSpPr>
        <p:spPr>
          <a:xfrm>
            <a:off x="5227168" y="3931920"/>
            <a:ext cx="548640" cy="548640"/>
          </a:xfrm>
          <a:prstGeom prst="ellipse">
            <a:avLst/>
          </a:prstGeom>
          <a:solidFill>
            <a:srgbClr val="EAF6FC"/>
          </a:solidFill>
          <a:ln w="12700">
            <a:solidFill>
              <a:srgbClr val="EAF6FC"/>
            </a:solidFill>
            <a:prstDash val="solid"/>
          </a:ln>
        </p:spPr>
      </p:sp>
      <p:pic>
        <p:nvPicPr>
          <p:cNvPr id="36" name="Image 6" descr="preencoded.png">    </p:cNvPr>
          <p:cNvPicPr>
            <a:picLocks noChangeAspect="1"/>
          </p:cNvPicPr>
          <p:nvPr/>
        </p:nvPicPr>
        <p:blipFill>
          <a:blip r:embed="rId7"/>
          <a:stretch>
            <a:fillRect/>
          </a:stretch>
        </p:blipFill>
        <p:spPr>
          <a:xfrm>
            <a:off x="5364328" y="4069080"/>
            <a:ext cx="274320" cy="274320"/>
          </a:xfrm>
          <a:prstGeom prst="rect">
            <a:avLst/>
          </a:prstGeom>
        </p:spPr>
      </p:pic>
      <p:sp>
        <p:nvSpPr>
          <p:cNvPr id="37" name="Text 28"/>
          <p:cNvSpPr txBox="1"/>
          <p:nvPr/>
        </p:nvSpPr>
        <p:spPr>
          <a:xfrm>
            <a:off x="731520" y="3895344"/>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زيارة مطلوبة منك</a:t>
            </a:r>
            <a:endParaRPr lang="ar-SA" sz="1350" dirty="0"/>
          </a:p>
        </p:txBody>
      </p:sp>
      <p:sp>
        <p:nvSpPr>
          <p:cNvPr id="38" name="Text 29"/>
          <p:cNvSpPr txBox="1"/>
          <p:nvPr/>
        </p:nvSpPr>
        <p:spPr>
          <a:xfrm>
            <a:off x="731520" y="4224528"/>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للمشرف ومساعده، ثم تأكيد التنفيذ لمن طلب</a:t>
            </a:r>
            <a:endParaRPr lang="ar-SA" sz="1100" dirty="0"/>
          </a:p>
        </p:txBody>
      </p:sp>
      <p:sp>
        <p:nvSpPr>
          <p:cNvPr id="39" name="Shape 30"/>
          <p:cNvSpPr/>
          <p:nvPr/>
        </p:nvSpPr>
        <p:spPr>
          <a:xfrm>
            <a:off x="548640" y="4791456"/>
            <a:ext cx="5410048" cy="804672"/>
          </a:xfrm>
          <a:prstGeom prst="roundRect">
            <a:avLst>
              <a:gd name="adj" fmla="val 13636"/>
            </a:avLst>
          </a:prstGeom>
          <a:solidFill>
            <a:srgbClr val="FFFFFF"/>
          </a:solidFill>
          <a:ln w="9525">
            <a:solidFill>
              <a:srgbClr val="E3E9EE"/>
            </a:solidFill>
            <a:prstDash val="solid"/>
          </a:ln>
        </p:spPr>
      </p:sp>
      <p:sp>
        <p:nvSpPr>
          <p:cNvPr id="40" name="Shape 31"/>
          <p:cNvSpPr/>
          <p:nvPr/>
        </p:nvSpPr>
        <p:spPr>
          <a:xfrm>
            <a:off x="5227168" y="4919472"/>
            <a:ext cx="548640" cy="548640"/>
          </a:xfrm>
          <a:prstGeom prst="ellipse">
            <a:avLst/>
          </a:prstGeom>
          <a:solidFill>
            <a:srgbClr val="D2ECF8"/>
          </a:solidFill>
          <a:ln w="12700">
            <a:solidFill>
              <a:srgbClr val="D2ECF8"/>
            </a:solidFill>
            <a:prstDash val="solid"/>
          </a:ln>
        </p:spPr>
      </p:sp>
      <p:pic>
        <p:nvPicPr>
          <p:cNvPr id="41" name="Image 7" descr="preencoded.png">    </p:cNvPr>
          <p:cNvPicPr>
            <a:picLocks noChangeAspect="1"/>
          </p:cNvPicPr>
          <p:nvPr/>
        </p:nvPicPr>
        <p:blipFill>
          <a:blip r:embed="rId8"/>
          <a:stretch>
            <a:fillRect/>
          </a:stretch>
        </p:blipFill>
        <p:spPr>
          <a:xfrm>
            <a:off x="5364328" y="5056632"/>
            <a:ext cx="274320" cy="274320"/>
          </a:xfrm>
          <a:prstGeom prst="rect">
            <a:avLst/>
          </a:prstGeom>
        </p:spPr>
      </p:pic>
      <p:sp>
        <p:nvSpPr>
          <p:cNvPr id="42" name="Text 32"/>
          <p:cNvSpPr txBox="1"/>
          <p:nvPr/>
        </p:nvSpPr>
        <p:spPr>
          <a:xfrm>
            <a:off x="731520" y="4882896"/>
            <a:ext cx="4404208" cy="347472"/>
          </a:xfrm>
          <a:prstGeom prst="rect">
            <a:avLst/>
          </a:prstGeom>
          <a:noFill/>
          <a:ln/>
        </p:spPr>
        <p:txBody>
          <a:bodyPr wrap="square" lIns="0" tIns="0" rIns="0" bIns="0" rtlCol="0" anchor="ctr"/>
          <a:lstStyle/>
          <a:p>
            <a:pPr rtl="1" algn="r" indent="0" marL="0">
              <a:buNone/>
            </a:pPr>
            <a:r>
              <a:rPr lang="ar-SA" altLang="en-US" sz="1350" b="1" dirty="0">
                <a:solidFill>
                  <a:srgbClr val="213E71"/>
                </a:solidFill>
                <a:latin typeface="Arial" pitchFamily="34" charset="0"/>
                <a:ea typeface="Arial" pitchFamily="34" charset="-122"/>
                <a:cs typeface="Arial" pitchFamily="34" charset="-120"/>
              </a:rPr>
              <a:t>تحديث محطاتك</a:t>
            </a:r>
            <a:endParaRPr lang="ar-SA" sz="1350" dirty="0"/>
          </a:p>
        </p:txBody>
      </p:sp>
      <p:sp>
        <p:nvSpPr>
          <p:cNvPr id="43" name="Text 33"/>
          <p:cNvSpPr txBox="1"/>
          <p:nvPr/>
        </p:nvSpPr>
        <p:spPr>
          <a:xfrm>
            <a:off x="731520" y="5212080"/>
            <a:ext cx="4404208" cy="320040"/>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للمشرف عند إضافة محطات أو نقلها</a:t>
            </a:r>
            <a:endParaRPr lang="ar-SA" sz="1100" dirty="0"/>
          </a:p>
        </p:txBody>
      </p:sp>
      <p:sp>
        <p:nvSpPr>
          <p:cNvPr id="44" name="Text 34"/>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45" name="Text 35"/>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10</a:t>
            </a:r>
            <a:endParaRPr lang="ar-SA"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لوحة القيادة ومؤشرات الأداء</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كل مستوى يرى أرقام فريقه، ومدير العمليات يرى الكل</a:t>
            </a:r>
            <a:endParaRPr lang="ar-SA" sz="1500" dirty="0"/>
          </a:p>
        </p:txBody>
      </p:sp>
      <p:sp>
        <p:nvSpPr>
          <p:cNvPr id="4" name="Shape 2"/>
          <p:cNvSpPr/>
          <p:nvPr/>
        </p:nvSpPr>
        <p:spPr>
          <a:xfrm>
            <a:off x="8854135" y="1783080"/>
            <a:ext cx="2651760" cy="1737360"/>
          </a:xfrm>
          <a:prstGeom prst="roundRect">
            <a:avLst>
              <a:gd name="adj" fmla="val 7368"/>
            </a:avLst>
          </a:prstGeom>
          <a:solidFill>
            <a:srgbClr val="EAF6FC"/>
          </a:solidFill>
          <a:ln w="12700">
            <a:solidFill>
              <a:srgbClr val="EAF6FC"/>
            </a:solidFill>
            <a:prstDash val="solid"/>
          </a:ln>
        </p:spPr>
      </p:sp>
      <p:sp>
        <p:nvSpPr>
          <p:cNvPr id="5" name="Text 3"/>
          <p:cNvSpPr txBox="1"/>
          <p:nvPr/>
        </p:nvSpPr>
        <p:spPr>
          <a:xfrm>
            <a:off x="9037015" y="1920240"/>
            <a:ext cx="2286000" cy="457200"/>
          </a:xfrm>
          <a:prstGeom prst="rect">
            <a:avLst/>
          </a:prstGeom>
          <a:noFill/>
          <a:ln/>
        </p:spPr>
        <p:txBody>
          <a:bodyPr wrap="square" lIns="0" tIns="0" rIns="0" bIns="0" rtlCol="0" anchor="ctr"/>
          <a:lstStyle/>
          <a:p>
            <a:pPr rtl="1" algn="r" indent="0" marL="0">
              <a:buNone/>
            </a:pPr>
            <a:r>
              <a:rPr lang="ar-SA" altLang="en-US" sz="1500" b="1" dirty="0">
                <a:solidFill>
                  <a:srgbClr val="009DDF"/>
                </a:solidFill>
                <a:latin typeface="Arial" pitchFamily="34" charset="0"/>
                <a:ea typeface="Arial" pitchFamily="34" charset="-122"/>
                <a:cs typeface="Arial" pitchFamily="34" charset="-120"/>
              </a:rPr>
              <a:t>الالتزام بالزيارات</a:t>
            </a:r>
            <a:endParaRPr lang="ar-SA" sz="1500" dirty="0"/>
          </a:p>
        </p:txBody>
      </p:sp>
      <p:sp>
        <p:nvSpPr>
          <p:cNvPr id="6" name="Text 4"/>
          <p:cNvSpPr txBox="1"/>
          <p:nvPr/>
        </p:nvSpPr>
        <p:spPr>
          <a:xfrm>
            <a:off x="9037015" y="2423160"/>
            <a:ext cx="2286000" cy="1005840"/>
          </a:xfrm>
          <a:prstGeom prst="rect">
            <a:avLst/>
          </a:prstGeom>
          <a:noFill/>
          <a:ln/>
        </p:spPr>
        <p:txBody>
          <a:bodyPr wrap="square" lIns="0" tIns="0" rIns="0" bIns="0" rtlCol="0" anchor="t"/>
          <a:lstStyle/>
          <a:p>
            <a:pPr rtl="1" algn="r" indent="0" marL="0">
              <a:lnSpc>
                <a:spcPct val="120000"/>
              </a:lnSpc>
              <a:buNone/>
            </a:pPr>
            <a:r>
              <a:rPr lang="ar-SA" altLang="en-US" sz="1150" dirty="0">
                <a:solidFill>
                  <a:srgbClr val="172A3A"/>
                </a:solidFill>
                <a:latin typeface="Arial" pitchFamily="34" charset="0"/>
                <a:ea typeface="Arial" pitchFamily="34" charset="-122"/>
                <a:cs typeface="Arial" pitchFamily="34" charset="-120"/>
              </a:rPr>
              <a:t>المنفَّذ ÷ المطلوب لكل مشرف ومنطقة</a:t>
            </a:r>
            <a:endParaRPr lang="ar-SA" sz="1150" dirty="0"/>
          </a:p>
        </p:txBody>
      </p:sp>
      <p:sp>
        <p:nvSpPr>
          <p:cNvPr id="7" name="Shape 5"/>
          <p:cNvSpPr/>
          <p:nvPr/>
        </p:nvSpPr>
        <p:spPr>
          <a:xfrm>
            <a:off x="6065215" y="1783080"/>
            <a:ext cx="2651760" cy="1737360"/>
          </a:xfrm>
          <a:prstGeom prst="roundRect">
            <a:avLst>
              <a:gd name="adj" fmla="val 7368"/>
            </a:avLst>
          </a:prstGeom>
          <a:solidFill>
            <a:srgbClr val="E8F7EF"/>
          </a:solidFill>
          <a:ln w="12700">
            <a:solidFill>
              <a:srgbClr val="E8F7EF"/>
            </a:solidFill>
            <a:prstDash val="solid"/>
          </a:ln>
        </p:spPr>
      </p:sp>
      <p:sp>
        <p:nvSpPr>
          <p:cNvPr id="8" name="Text 6"/>
          <p:cNvSpPr txBox="1"/>
          <p:nvPr/>
        </p:nvSpPr>
        <p:spPr>
          <a:xfrm>
            <a:off x="6248095" y="1920240"/>
            <a:ext cx="2286000" cy="457200"/>
          </a:xfrm>
          <a:prstGeom prst="rect">
            <a:avLst/>
          </a:prstGeom>
          <a:noFill/>
          <a:ln/>
        </p:spPr>
        <p:txBody>
          <a:bodyPr wrap="square" lIns="0" tIns="0" rIns="0" bIns="0" rtlCol="0" anchor="ctr"/>
          <a:lstStyle/>
          <a:p>
            <a:pPr rtl="1" algn="r" indent="0" marL="0">
              <a:buNone/>
            </a:pPr>
            <a:r>
              <a:rPr lang="ar-SA" altLang="en-US" sz="1500" b="1" dirty="0">
                <a:solidFill>
                  <a:srgbClr val="1B8A5A"/>
                </a:solidFill>
                <a:latin typeface="Arial" pitchFamily="34" charset="0"/>
                <a:ea typeface="Arial" pitchFamily="34" charset="-122"/>
                <a:cs typeface="Arial" pitchFamily="34" charset="-120"/>
              </a:rPr>
              <a:t>متوسط النتيجة</a:t>
            </a:r>
            <a:endParaRPr lang="ar-SA" sz="1500" dirty="0"/>
          </a:p>
        </p:txBody>
      </p:sp>
      <p:sp>
        <p:nvSpPr>
          <p:cNvPr id="9" name="Text 7"/>
          <p:cNvSpPr txBox="1"/>
          <p:nvPr/>
        </p:nvSpPr>
        <p:spPr>
          <a:xfrm>
            <a:off x="6248095" y="2423160"/>
            <a:ext cx="2286000" cy="1005840"/>
          </a:xfrm>
          <a:prstGeom prst="rect">
            <a:avLst/>
          </a:prstGeom>
          <a:noFill/>
          <a:ln/>
        </p:spPr>
        <p:txBody>
          <a:bodyPr wrap="square" lIns="0" tIns="0" rIns="0" bIns="0" rtlCol="0" anchor="t"/>
          <a:lstStyle/>
          <a:p>
            <a:pPr rtl="1" algn="r" indent="0" marL="0">
              <a:lnSpc>
                <a:spcPct val="120000"/>
              </a:lnSpc>
              <a:buNone/>
            </a:pPr>
            <a:r>
              <a:rPr lang="ar-SA" altLang="en-US" sz="1150" dirty="0">
                <a:solidFill>
                  <a:srgbClr val="172A3A"/>
                </a:solidFill>
                <a:latin typeface="Arial" pitchFamily="34" charset="0"/>
                <a:ea typeface="Arial" pitchFamily="34" charset="-122"/>
                <a:cs typeface="Arial" pitchFamily="34" charset="-120"/>
              </a:rPr>
              <a:t>نسبة البنود المطابقة في الزيارات المعتمدة</a:t>
            </a:r>
            <a:endParaRPr lang="ar-SA" sz="1150" dirty="0"/>
          </a:p>
        </p:txBody>
      </p:sp>
      <p:sp>
        <p:nvSpPr>
          <p:cNvPr id="10" name="Shape 8"/>
          <p:cNvSpPr/>
          <p:nvPr/>
        </p:nvSpPr>
        <p:spPr>
          <a:xfrm>
            <a:off x="3276295" y="1783080"/>
            <a:ext cx="2651760" cy="1737360"/>
          </a:xfrm>
          <a:prstGeom prst="roundRect">
            <a:avLst>
              <a:gd name="adj" fmla="val 7368"/>
            </a:avLst>
          </a:prstGeom>
          <a:solidFill>
            <a:srgbClr val="FFF5E6"/>
          </a:solidFill>
          <a:ln w="12700">
            <a:solidFill>
              <a:srgbClr val="FFF5E6"/>
            </a:solidFill>
            <a:prstDash val="solid"/>
          </a:ln>
        </p:spPr>
      </p:sp>
      <p:sp>
        <p:nvSpPr>
          <p:cNvPr id="11" name="Text 9"/>
          <p:cNvSpPr txBox="1"/>
          <p:nvPr/>
        </p:nvSpPr>
        <p:spPr>
          <a:xfrm>
            <a:off x="3459175" y="1920240"/>
            <a:ext cx="2286000" cy="457200"/>
          </a:xfrm>
          <a:prstGeom prst="rect">
            <a:avLst/>
          </a:prstGeom>
          <a:noFill/>
          <a:ln/>
        </p:spPr>
        <p:txBody>
          <a:bodyPr wrap="square" lIns="0" tIns="0" rIns="0" bIns="0" rtlCol="0" anchor="ctr"/>
          <a:lstStyle/>
          <a:p>
            <a:pPr rtl="1" algn="r" indent="0" marL="0">
              <a:buNone/>
            </a:pPr>
            <a:r>
              <a:rPr lang="ar-SA" altLang="en-US" sz="1500" b="1" dirty="0">
                <a:solidFill>
                  <a:srgbClr val="C7780F"/>
                </a:solidFill>
                <a:latin typeface="Arial" pitchFamily="34" charset="0"/>
                <a:ea typeface="Arial" pitchFamily="34" charset="-122"/>
                <a:cs typeface="Arial" pitchFamily="34" charset="-120"/>
              </a:rPr>
              <a:t>إغلاق الملاحظات</a:t>
            </a:r>
            <a:endParaRPr lang="ar-SA" sz="1500" dirty="0"/>
          </a:p>
        </p:txBody>
      </p:sp>
      <p:sp>
        <p:nvSpPr>
          <p:cNvPr id="12" name="Text 10"/>
          <p:cNvSpPr txBox="1"/>
          <p:nvPr/>
        </p:nvSpPr>
        <p:spPr>
          <a:xfrm>
            <a:off x="3459175" y="2423160"/>
            <a:ext cx="2286000" cy="1005840"/>
          </a:xfrm>
          <a:prstGeom prst="rect">
            <a:avLst/>
          </a:prstGeom>
          <a:noFill/>
          <a:ln/>
        </p:spPr>
        <p:txBody>
          <a:bodyPr wrap="square" lIns="0" tIns="0" rIns="0" bIns="0" rtlCol="0" anchor="t"/>
          <a:lstStyle/>
          <a:p>
            <a:pPr rtl="1" algn="r" indent="0" marL="0">
              <a:lnSpc>
                <a:spcPct val="120000"/>
              </a:lnSpc>
              <a:buNone/>
            </a:pPr>
            <a:r>
              <a:rPr lang="ar-SA" altLang="en-US" sz="1150" dirty="0">
                <a:solidFill>
                  <a:srgbClr val="172A3A"/>
                </a:solidFill>
                <a:latin typeface="Arial" pitchFamily="34" charset="0"/>
                <a:ea typeface="Arial" pitchFamily="34" charset="-122"/>
                <a:cs typeface="Arial" pitchFamily="34" charset="-120"/>
              </a:rPr>
              <a:t>المغلقة ضمن المهلة ÷ الكل</a:t>
            </a:r>
            <a:endParaRPr lang="ar-SA" sz="1150" dirty="0"/>
          </a:p>
        </p:txBody>
      </p:sp>
      <p:sp>
        <p:nvSpPr>
          <p:cNvPr id="13" name="Shape 11"/>
          <p:cNvSpPr/>
          <p:nvPr/>
        </p:nvSpPr>
        <p:spPr>
          <a:xfrm>
            <a:off x="487375" y="1783080"/>
            <a:ext cx="2651760" cy="1737360"/>
          </a:xfrm>
          <a:prstGeom prst="roundRect">
            <a:avLst>
              <a:gd name="adj" fmla="val 7368"/>
            </a:avLst>
          </a:prstGeom>
          <a:solidFill>
            <a:srgbClr val="FDEDED"/>
          </a:solidFill>
          <a:ln w="12700">
            <a:solidFill>
              <a:srgbClr val="FDEDED"/>
            </a:solidFill>
            <a:prstDash val="solid"/>
          </a:ln>
        </p:spPr>
      </p:sp>
      <p:sp>
        <p:nvSpPr>
          <p:cNvPr id="14" name="Text 12"/>
          <p:cNvSpPr txBox="1"/>
          <p:nvPr/>
        </p:nvSpPr>
        <p:spPr>
          <a:xfrm>
            <a:off x="670255" y="1920240"/>
            <a:ext cx="2286000" cy="457200"/>
          </a:xfrm>
          <a:prstGeom prst="rect">
            <a:avLst/>
          </a:prstGeom>
          <a:noFill/>
          <a:ln/>
        </p:spPr>
        <p:txBody>
          <a:bodyPr wrap="square" lIns="0" tIns="0" rIns="0" bIns="0" rtlCol="0" anchor="ctr"/>
          <a:lstStyle/>
          <a:p>
            <a:pPr rtl="1" algn="r" indent="0" marL="0">
              <a:buNone/>
            </a:pPr>
            <a:r>
              <a:rPr lang="ar-SA" altLang="en-US" sz="1500" b="1" dirty="0">
                <a:solidFill>
                  <a:srgbClr val="C63C3C"/>
                </a:solidFill>
                <a:latin typeface="Arial" pitchFamily="34" charset="0"/>
                <a:ea typeface="Arial" pitchFamily="34" charset="-122"/>
                <a:cs typeface="Arial" pitchFamily="34" charset="-120"/>
              </a:rPr>
              <a:t>المتأخر والمصعَّد</a:t>
            </a:r>
            <a:endParaRPr lang="ar-SA" sz="1500" dirty="0"/>
          </a:p>
        </p:txBody>
      </p:sp>
      <p:sp>
        <p:nvSpPr>
          <p:cNvPr id="15" name="Text 13"/>
          <p:cNvSpPr txBox="1"/>
          <p:nvPr/>
        </p:nvSpPr>
        <p:spPr>
          <a:xfrm>
            <a:off x="670255" y="2423160"/>
            <a:ext cx="2286000" cy="1005840"/>
          </a:xfrm>
          <a:prstGeom prst="rect">
            <a:avLst/>
          </a:prstGeom>
          <a:noFill/>
          <a:ln/>
        </p:spPr>
        <p:txBody>
          <a:bodyPr wrap="square" lIns="0" tIns="0" rIns="0" bIns="0" rtlCol="0" anchor="t"/>
          <a:lstStyle/>
          <a:p>
            <a:pPr rtl="1" algn="r" indent="0" marL="0">
              <a:lnSpc>
                <a:spcPct val="120000"/>
              </a:lnSpc>
              <a:buNone/>
            </a:pPr>
            <a:r>
              <a:rPr lang="ar-SA" altLang="en-US" sz="1150" dirty="0">
                <a:solidFill>
                  <a:srgbClr val="172A3A"/>
                </a:solidFill>
                <a:latin typeface="Arial" pitchFamily="34" charset="0"/>
                <a:ea typeface="Arial" pitchFamily="34" charset="-122"/>
                <a:cs typeface="Arial" pitchFamily="34" charset="-120"/>
              </a:rPr>
              <a:t>ملاحظات تجاوزت مهلتها وأين وصلت</a:t>
            </a:r>
            <a:endParaRPr lang="ar-SA" sz="1150" dirty="0"/>
          </a:p>
        </p:txBody>
      </p:sp>
      <p:graphicFrame>
        <p:nvGraphicFramePr>
          <p:cNvPr id="16" name="Chart 0" descr=""/>
          <p:cNvGraphicFramePr/>
          <p:nvPr/>
        </p:nvGraphicFramePr>
        <p:xfrm>
          <a:off x="5059375" y="3794760"/>
          <a:ext cx="6583680" cy="233172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48640" y="3794760"/>
            <a:ext cx="4846320" cy="2331720"/>
          </a:xfrm>
          <a:prstGeom prst="roundRect">
            <a:avLst>
              <a:gd name="adj" fmla="val 5490"/>
            </a:avLst>
          </a:prstGeom>
          <a:solidFill>
            <a:srgbClr val="FFFFFF"/>
          </a:solidFill>
          <a:ln w="9525">
            <a:solidFill>
              <a:srgbClr val="E3E9EE"/>
            </a:solidFill>
            <a:prstDash val="solid"/>
          </a:ln>
          <a:effectLst>
            <a:outerShdw sx="100000" sy="100000" kx="0" ky="0" algn="bl" rotWithShape="0" blurRad="76200" dist="25400" dir="5400000">
              <a:srgbClr val="213E71">
                <a:alpha val="8000"/>
              </a:srgbClr>
            </a:outerShdw>
          </a:effectLst>
        </p:spPr>
      </p:sp>
      <p:sp>
        <p:nvSpPr>
          <p:cNvPr id="18" name="Shape 15"/>
          <p:cNvSpPr/>
          <p:nvPr/>
        </p:nvSpPr>
        <p:spPr>
          <a:xfrm>
            <a:off x="4617720" y="3995928"/>
            <a:ext cx="548640" cy="548640"/>
          </a:xfrm>
          <a:prstGeom prst="ellipse">
            <a:avLst/>
          </a:prstGeom>
          <a:solidFill>
            <a:srgbClr val="EAF6FC"/>
          </a:solidFill>
          <a:ln w="12700">
            <a:solidFill>
              <a:srgbClr val="EAF6FC"/>
            </a:solidFill>
            <a:prstDash val="solid"/>
          </a:ln>
        </p:spPr>
      </p:sp>
      <p:pic>
        <p:nvPicPr>
          <p:cNvPr id="19" name="Image 0" descr="preencoded.png">    </p:cNvPr>
          <p:cNvPicPr>
            <a:picLocks noChangeAspect="1"/>
          </p:cNvPicPr>
          <p:nvPr/>
        </p:nvPicPr>
        <p:blipFill>
          <a:blip r:embed="rId2"/>
          <a:stretch>
            <a:fillRect/>
          </a:stretch>
        </p:blipFill>
        <p:spPr>
          <a:xfrm>
            <a:off x="4754880" y="4133088"/>
            <a:ext cx="274320" cy="274320"/>
          </a:xfrm>
          <a:prstGeom prst="rect">
            <a:avLst/>
          </a:prstGeom>
        </p:spPr>
      </p:pic>
      <p:sp>
        <p:nvSpPr>
          <p:cNvPr id="20" name="Text 16"/>
          <p:cNvSpPr txBox="1"/>
          <p:nvPr/>
        </p:nvSpPr>
        <p:spPr>
          <a:xfrm>
            <a:off x="777240" y="3995928"/>
            <a:ext cx="3703320" cy="566928"/>
          </a:xfrm>
          <a:prstGeom prst="rect">
            <a:avLst/>
          </a:prstGeom>
          <a:noFill/>
          <a:ln/>
        </p:spPr>
        <p:txBody>
          <a:bodyPr wrap="square" lIns="0" tIns="0" rIns="0" bIns="0" rtlCol="0" anchor="ctr"/>
          <a:lstStyle/>
          <a:p>
            <a:pPr rtl="1" algn="r" indent="0" marL="0">
              <a:buNone/>
            </a:pPr>
            <a:r>
              <a:rPr lang="ar-SA" altLang="en-US" sz="1500" b="1" dirty="0">
                <a:solidFill>
                  <a:srgbClr val="213E71"/>
                </a:solidFill>
                <a:latin typeface="Arial" pitchFamily="34" charset="0"/>
                <a:ea typeface="Arial" pitchFamily="34" charset="-122"/>
                <a:cs typeface="Arial" pitchFamily="34" charset="-120"/>
              </a:rPr>
              <a:t>ما تحتويه اللوحة</a:t>
            </a:r>
            <a:endParaRPr lang="ar-SA" sz="1500" dirty="0"/>
          </a:p>
        </p:txBody>
      </p:sp>
      <p:sp>
        <p:nvSpPr>
          <p:cNvPr id="21" name="Text 17"/>
          <p:cNvSpPr txBox="1"/>
          <p:nvPr/>
        </p:nvSpPr>
        <p:spPr>
          <a:xfrm>
            <a:off x="777240" y="4663440"/>
            <a:ext cx="4389120" cy="1325880"/>
          </a:xfrm>
          <a:prstGeom prst="rect">
            <a:avLst/>
          </a:prstGeom>
          <a:noFill/>
          <a:ln/>
        </p:spPr>
        <p:txBody>
          <a:bodyPr wrap="square" lIns="0" tIns="0" rIns="0" bIns="0" rtlCol="0" anchor="t"/>
          <a:lstStyle/>
          <a:p>
            <a:pPr rtl="1" algn="r" indent="0" marL="0">
              <a:lnSpc>
                <a:spcPct val="125000"/>
              </a:lnSpc>
              <a:buNone/>
            </a:pPr>
            <a:r>
              <a:rPr lang="ar-SA" altLang="en-US" sz="1200" dirty="0">
                <a:solidFill>
                  <a:srgbClr val="66788A"/>
                </a:solidFill>
                <a:latin typeface="Arial" pitchFamily="34" charset="0"/>
                <a:ea typeface="Arial" pitchFamily="34" charset="-122"/>
                <a:cs typeface="Arial" pitchFamily="34" charset="-120"/>
              </a:rPr>
              <a:t>أرقام الفترة، ترتيب المشرفين، المحطات الأكثر ملاحظات، ملف كل محطة بسجل زياراتها، وأداء كل مشرف بتفاصيله. قابلة للتصفية بالمنطقة والفترة وقابلة للتصدير.</a:t>
            </a:r>
            <a:endParaRPr lang="ar-SA" sz="1200" dirty="0"/>
          </a:p>
        </p:txBody>
      </p:sp>
      <p:sp>
        <p:nvSpPr>
          <p:cNvPr id="22" name="Text 18"/>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23" name="Text 19"/>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11</a:t>
            </a:r>
            <a:endParaRPr lang="ar-SA"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rtl="1" algn="r" indent="0" marL="0">
              <a:buNone/>
            </a:pPr>
            <a:r>
              <a:rPr lang="ar-SA" altLang="en-US" sz="3200" b="1" dirty="0">
                <a:solidFill>
                  <a:srgbClr val="213E71"/>
                </a:solidFill>
                <a:latin typeface="Arial" pitchFamily="34" charset="0"/>
                <a:ea typeface="Arial" pitchFamily="34" charset="-122"/>
                <a:cs typeface="Arial" pitchFamily="34" charset="-120"/>
              </a:rPr>
              <a:t>خطوات بدء التجربة الفعلية</a:t>
            </a:r>
            <a:endParaRPr lang="ar-SA" sz="3200" dirty="0"/>
          </a:p>
        </p:txBody>
      </p:sp>
      <p:sp>
        <p:nvSpPr>
          <p:cNvPr id="3" name="Text 1"/>
          <p:cNvSpPr txBox="1"/>
          <p:nvPr/>
        </p:nvSpPr>
        <p:spPr>
          <a:xfrm>
            <a:off x="548640" y="1097280"/>
            <a:ext cx="11094415" cy="411480"/>
          </a:xfrm>
          <a:prstGeom prst="rect">
            <a:avLst/>
          </a:prstGeom>
          <a:noFill/>
          <a:ln/>
        </p:spPr>
        <p:txBody>
          <a:bodyPr wrap="square" lIns="0" tIns="0" rIns="0" bIns="0" rtlCol="0" anchor="ctr"/>
          <a:lstStyle/>
          <a:p>
            <a:pPr rtl="1" algn="r" indent="0" marL="0">
              <a:buNone/>
            </a:pPr>
            <a:r>
              <a:rPr lang="ar-SA" altLang="en-US" sz="1500" dirty="0">
                <a:solidFill>
                  <a:srgbClr val="66788A"/>
                </a:solidFill>
                <a:latin typeface="Arial" pitchFamily="34" charset="0"/>
                <a:ea typeface="Arial" pitchFamily="34" charset="-122"/>
                <a:cs typeface="Arial" pitchFamily="34" charset="-120"/>
              </a:rPr>
              <a:t>بالترتيب، مرة واحدة</a:t>
            </a:r>
            <a:endParaRPr lang="ar-SA" sz="1500" dirty="0"/>
          </a:p>
        </p:txBody>
      </p:sp>
      <p:sp>
        <p:nvSpPr>
          <p:cNvPr id="4" name="Shape 2"/>
          <p:cNvSpPr/>
          <p:nvPr/>
        </p:nvSpPr>
        <p:spPr>
          <a:xfrm>
            <a:off x="548640" y="1783080"/>
            <a:ext cx="11094415" cy="749808"/>
          </a:xfrm>
          <a:prstGeom prst="roundRect">
            <a:avLst>
              <a:gd name="adj" fmla="val 14634"/>
            </a:avLst>
          </a:prstGeom>
          <a:solidFill>
            <a:srgbClr val="F8FAFC"/>
          </a:solidFill>
          <a:ln w="9525">
            <a:solidFill>
              <a:srgbClr val="E3E9EE"/>
            </a:solidFill>
            <a:prstDash val="solid"/>
          </a:ln>
        </p:spPr>
      </p:sp>
      <p:sp>
        <p:nvSpPr>
          <p:cNvPr id="5" name="Shape 3"/>
          <p:cNvSpPr/>
          <p:nvPr/>
        </p:nvSpPr>
        <p:spPr>
          <a:xfrm>
            <a:off x="10957255" y="1906524"/>
            <a:ext cx="502920" cy="502920"/>
          </a:xfrm>
          <a:prstGeom prst="ellipse">
            <a:avLst/>
          </a:prstGeom>
          <a:solidFill>
            <a:srgbClr val="213E71"/>
          </a:solidFill>
          <a:ln w="12700">
            <a:solidFill>
              <a:srgbClr val="213E71"/>
            </a:solidFill>
            <a:prstDash val="solid"/>
          </a:ln>
        </p:spPr>
      </p:sp>
      <p:sp>
        <p:nvSpPr>
          <p:cNvPr id="6" name="Text 4"/>
          <p:cNvSpPr txBox="1"/>
          <p:nvPr/>
        </p:nvSpPr>
        <p:spPr>
          <a:xfrm>
            <a:off x="10957255" y="1906524"/>
            <a:ext cx="502920" cy="502920"/>
          </a:xfrm>
          <a:prstGeom prst="rect">
            <a:avLst/>
          </a:prstGeom>
          <a:noFill/>
          <a:ln/>
        </p:spPr>
        <p:txBody>
          <a:bodyPr wrap="square" lIns="0" tIns="0" rIns="0" bIns="0" rtlCol="0" anchor="ctr"/>
          <a:lstStyle/>
          <a:p>
            <a:pPr rtl="1" algn="ctr" indent="0" marL="0">
              <a:buNone/>
            </a:pPr>
            <a:r>
              <a:rPr lang="ar-SA" altLang="en-US" sz="1600" b="1" dirty="0">
                <a:solidFill>
                  <a:srgbClr val="FFFFFF"/>
                </a:solidFill>
                <a:latin typeface="Arial" pitchFamily="34" charset="0"/>
                <a:ea typeface="Arial" pitchFamily="34" charset="-122"/>
                <a:cs typeface="Arial" pitchFamily="34" charset="-120"/>
              </a:rPr>
              <a:t>1</a:t>
            </a:r>
            <a:endParaRPr lang="ar-SA" sz="1600" dirty="0"/>
          </a:p>
        </p:txBody>
      </p:sp>
      <p:sp>
        <p:nvSpPr>
          <p:cNvPr id="7" name="Text 5"/>
          <p:cNvSpPr txBox="1"/>
          <p:nvPr/>
        </p:nvSpPr>
        <p:spPr>
          <a:xfrm>
            <a:off x="731520" y="1856232"/>
            <a:ext cx="9997135" cy="347472"/>
          </a:xfrm>
          <a:prstGeom prst="rect">
            <a:avLst/>
          </a:prstGeom>
          <a:noFill/>
          <a:ln/>
        </p:spPr>
        <p:txBody>
          <a:bodyPr wrap="square" lIns="0" tIns="0" rIns="0" bIns="0" rtlCol="0" anchor="ctr"/>
          <a:lstStyle/>
          <a:p>
            <a:pPr rtl="1" algn="r" indent="0" marL="0">
              <a:buNone/>
            </a:pPr>
            <a:r>
              <a:rPr lang="ar-SA" altLang="en-US" sz="1400" b="1" dirty="0">
                <a:solidFill>
                  <a:srgbClr val="213E71"/>
                </a:solidFill>
                <a:latin typeface="Arial" pitchFamily="34" charset="0"/>
                <a:ea typeface="Arial" pitchFamily="34" charset="-122"/>
                <a:cs typeface="Arial" pitchFamily="34" charset="-120"/>
              </a:rPr>
              <a:t>لصق الملفات الثمانية ونشر إصدار جديد</a:t>
            </a:r>
            <a:endParaRPr lang="ar-SA" sz="1400" dirty="0"/>
          </a:p>
        </p:txBody>
      </p:sp>
      <p:sp>
        <p:nvSpPr>
          <p:cNvPr id="8" name="Text 6"/>
          <p:cNvSpPr txBox="1"/>
          <p:nvPr/>
        </p:nvSpPr>
        <p:spPr>
          <a:xfrm>
            <a:off x="731520" y="2185416"/>
            <a:ext cx="9997135" cy="310896"/>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Code · Workflow · Visits · Supervisors · Index · App1 · App2 · App4</a:t>
            </a:r>
            <a:endParaRPr lang="ar-SA" sz="1100" dirty="0"/>
          </a:p>
        </p:txBody>
      </p:sp>
      <p:sp>
        <p:nvSpPr>
          <p:cNvPr id="9" name="Shape 7"/>
          <p:cNvSpPr/>
          <p:nvPr/>
        </p:nvSpPr>
        <p:spPr>
          <a:xfrm>
            <a:off x="548640" y="2651760"/>
            <a:ext cx="11094415" cy="749808"/>
          </a:xfrm>
          <a:prstGeom prst="roundRect">
            <a:avLst>
              <a:gd name="adj" fmla="val 14634"/>
            </a:avLst>
          </a:prstGeom>
          <a:solidFill>
            <a:srgbClr val="FFFFFF"/>
          </a:solidFill>
          <a:ln w="9525">
            <a:solidFill>
              <a:srgbClr val="E3E9EE"/>
            </a:solidFill>
            <a:prstDash val="solid"/>
          </a:ln>
        </p:spPr>
      </p:sp>
      <p:sp>
        <p:nvSpPr>
          <p:cNvPr id="10" name="Shape 8"/>
          <p:cNvSpPr/>
          <p:nvPr/>
        </p:nvSpPr>
        <p:spPr>
          <a:xfrm>
            <a:off x="10957255" y="2775204"/>
            <a:ext cx="502920" cy="502920"/>
          </a:xfrm>
          <a:prstGeom prst="ellipse">
            <a:avLst/>
          </a:prstGeom>
          <a:solidFill>
            <a:srgbClr val="213E71"/>
          </a:solidFill>
          <a:ln w="12700">
            <a:solidFill>
              <a:srgbClr val="213E71"/>
            </a:solidFill>
            <a:prstDash val="solid"/>
          </a:ln>
        </p:spPr>
      </p:sp>
      <p:sp>
        <p:nvSpPr>
          <p:cNvPr id="11" name="Text 9"/>
          <p:cNvSpPr txBox="1"/>
          <p:nvPr/>
        </p:nvSpPr>
        <p:spPr>
          <a:xfrm>
            <a:off x="10957255" y="2775204"/>
            <a:ext cx="502920" cy="502920"/>
          </a:xfrm>
          <a:prstGeom prst="rect">
            <a:avLst/>
          </a:prstGeom>
          <a:noFill/>
          <a:ln/>
        </p:spPr>
        <p:txBody>
          <a:bodyPr wrap="square" lIns="0" tIns="0" rIns="0" bIns="0" rtlCol="0" anchor="ctr"/>
          <a:lstStyle/>
          <a:p>
            <a:pPr rtl="1" algn="ctr" indent="0" marL="0">
              <a:buNone/>
            </a:pPr>
            <a:r>
              <a:rPr lang="ar-SA" altLang="en-US" sz="1600" b="1" dirty="0">
                <a:solidFill>
                  <a:srgbClr val="FFFFFF"/>
                </a:solidFill>
                <a:latin typeface="Arial" pitchFamily="34" charset="0"/>
                <a:ea typeface="Arial" pitchFamily="34" charset="-122"/>
                <a:cs typeface="Arial" pitchFamily="34" charset="-120"/>
              </a:rPr>
              <a:t>2</a:t>
            </a:r>
            <a:endParaRPr lang="ar-SA" sz="1600" dirty="0"/>
          </a:p>
        </p:txBody>
      </p:sp>
      <p:sp>
        <p:nvSpPr>
          <p:cNvPr id="12" name="Text 10"/>
          <p:cNvSpPr txBox="1"/>
          <p:nvPr/>
        </p:nvSpPr>
        <p:spPr>
          <a:xfrm>
            <a:off x="731520" y="2724912"/>
            <a:ext cx="9997135" cy="347472"/>
          </a:xfrm>
          <a:prstGeom prst="rect">
            <a:avLst/>
          </a:prstGeom>
          <a:noFill/>
          <a:ln/>
        </p:spPr>
        <p:txBody>
          <a:bodyPr wrap="square" lIns="0" tIns="0" rIns="0" bIns="0" rtlCol="0" anchor="ctr"/>
          <a:lstStyle/>
          <a:p>
            <a:pPr rtl="1" algn="r" indent="0" marL="0">
              <a:buNone/>
            </a:pPr>
            <a:r>
              <a:rPr lang="ar-SA" altLang="en-US" sz="1400" b="1" dirty="0">
                <a:solidFill>
                  <a:srgbClr val="213E71"/>
                </a:solidFill>
                <a:latin typeface="Arial" pitchFamily="34" charset="0"/>
                <a:ea typeface="Arial" pitchFamily="34" charset="-122"/>
                <a:cs typeface="Arial" pitchFamily="34" charset="-120"/>
              </a:rPr>
              <a:t>تشغيل upgradeSystemV4 من المحرر</a:t>
            </a:r>
            <a:endParaRPr lang="ar-SA" sz="1400" dirty="0"/>
          </a:p>
        </p:txBody>
      </p:sp>
      <p:sp>
        <p:nvSpPr>
          <p:cNvPr id="13" name="Text 11"/>
          <p:cNvSpPr txBox="1"/>
          <p:nvPr/>
        </p:nvSpPr>
        <p:spPr>
          <a:xfrm>
            <a:off x="731520" y="3054096"/>
            <a:ext cx="9997135" cy="310896"/>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يضيف الأوراق والأعمدة الجديدة ويعتمد مسمى «مشرف المحطات»</a:t>
            </a:r>
            <a:endParaRPr lang="ar-SA" sz="1100" dirty="0"/>
          </a:p>
        </p:txBody>
      </p:sp>
      <p:sp>
        <p:nvSpPr>
          <p:cNvPr id="14" name="Shape 12"/>
          <p:cNvSpPr/>
          <p:nvPr/>
        </p:nvSpPr>
        <p:spPr>
          <a:xfrm>
            <a:off x="548640" y="3520440"/>
            <a:ext cx="11094415" cy="749808"/>
          </a:xfrm>
          <a:prstGeom prst="roundRect">
            <a:avLst>
              <a:gd name="adj" fmla="val 14634"/>
            </a:avLst>
          </a:prstGeom>
          <a:solidFill>
            <a:srgbClr val="F8FAFC"/>
          </a:solidFill>
          <a:ln w="9525">
            <a:solidFill>
              <a:srgbClr val="E3E9EE"/>
            </a:solidFill>
            <a:prstDash val="solid"/>
          </a:ln>
        </p:spPr>
      </p:sp>
      <p:sp>
        <p:nvSpPr>
          <p:cNvPr id="15" name="Shape 13"/>
          <p:cNvSpPr/>
          <p:nvPr/>
        </p:nvSpPr>
        <p:spPr>
          <a:xfrm>
            <a:off x="10957255" y="3643884"/>
            <a:ext cx="502920" cy="502920"/>
          </a:xfrm>
          <a:prstGeom prst="ellipse">
            <a:avLst/>
          </a:prstGeom>
          <a:solidFill>
            <a:srgbClr val="213E71"/>
          </a:solidFill>
          <a:ln w="12700">
            <a:solidFill>
              <a:srgbClr val="213E71"/>
            </a:solidFill>
            <a:prstDash val="solid"/>
          </a:ln>
        </p:spPr>
      </p:sp>
      <p:sp>
        <p:nvSpPr>
          <p:cNvPr id="16" name="Text 14"/>
          <p:cNvSpPr txBox="1"/>
          <p:nvPr/>
        </p:nvSpPr>
        <p:spPr>
          <a:xfrm>
            <a:off x="10957255" y="3643884"/>
            <a:ext cx="502920" cy="502920"/>
          </a:xfrm>
          <a:prstGeom prst="rect">
            <a:avLst/>
          </a:prstGeom>
          <a:noFill/>
          <a:ln/>
        </p:spPr>
        <p:txBody>
          <a:bodyPr wrap="square" lIns="0" tIns="0" rIns="0" bIns="0" rtlCol="0" anchor="ctr"/>
          <a:lstStyle/>
          <a:p>
            <a:pPr rtl="1" algn="ctr" indent="0" marL="0">
              <a:buNone/>
            </a:pPr>
            <a:r>
              <a:rPr lang="ar-SA" altLang="en-US" sz="1600" b="1" dirty="0">
                <a:solidFill>
                  <a:srgbClr val="FFFFFF"/>
                </a:solidFill>
                <a:latin typeface="Arial" pitchFamily="34" charset="0"/>
                <a:ea typeface="Arial" pitchFamily="34" charset="-122"/>
                <a:cs typeface="Arial" pitchFamily="34" charset="-120"/>
              </a:rPr>
              <a:t>3</a:t>
            </a:r>
            <a:endParaRPr lang="ar-SA" sz="1600" dirty="0"/>
          </a:p>
        </p:txBody>
      </p:sp>
      <p:sp>
        <p:nvSpPr>
          <p:cNvPr id="17" name="Text 15"/>
          <p:cNvSpPr txBox="1"/>
          <p:nvPr/>
        </p:nvSpPr>
        <p:spPr>
          <a:xfrm>
            <a:off x="731520" y="3593592"/>
            <a:ext cx="9997135" cy="347472"/>
          </a:xfrm>
          <a:prstGeom prst="rect">
            <a:avLst/>
          </a:prstGeom>
          <a:noFill/>
          <a:ln/>
        </p:spPr>
        <p:txBody>
          <a:bodyPr wrap="square" lIns="0" tIns="0" rIns="0" bIns="0" rtlCol="0" anchor="ctr"/>
          <a:lstStyle/>
          <a:p>
            <a:pPr rtl="1" algn="r" indent="0" marL="0">
              <a:buNone/>
            </a:pPr>
            <a:r>
              <a:rPr lang="ar-SA" altLang="en-US" sz="1400" b="1" dirty="0">
                <a:solidFill>
                  <a:srgbClr val="213E71"/>
                </a:solidFill>
                <a:latin typeface="Arial" pitchFamily="34" charset="0"/>
                <a:ea typeface="Arial" pitchFamily="34" charset="-122"/>
                <a:cs typeface="Arial" pitchFamily="34" charset="-120"/>
              </a:rPr>
              <a:t>تشغيل resetForLiveTrialWithAssignments</a:t>
            </a:r>
            <a:endParaRPr lang="ar-SA" sz="1400" dirty="0"/>
          </a:p>
        </p:txBody>
      </p:sp>
      <p:sp>
        <p:nvSpPr>
          <p:cNvPr id="18" name="Text 16"/>
          <p:cNvSpPr txBox="1"/>
          <p:nvPr/>
        </p:nvSpPr>
        <p:spPr>
          <a:xfrm>
            <a:off x="731520" y="3922776"/>
            <a:ext cx="9997135" cy="310896"/>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يصفّر الزيارات والملاحظات والإشعارات ومحطات المشرفين، ويُبقي المستخدمين والمحطات وقوائم التحقق</a:t>
            </a:r>
            <a:endParaRPr lang="ar-SA" sz="1100" dirty="0"/>
          </a:p>
        </p:txBody>
      </p:sp>
      <p:sp>
        <p:nvSpPr>
          <p:cNvPr id="19" name="Shape 17"/>
          <p:cNvSpPr/>
          <p:nvPr/>
        </p:nvSpPr>
        <p:spPr>
          <a:xfrm>
            <a:off x="548640" y="4389120"/>
            <a:ext cx="11094415" cy="749808"/>
          </a:xfrm>
          <a:prstGeom prst="roundRect">
            <a:avLst>
              <a:gd name="adj" fmla="val 14634"/>
            </a:avLst>
          </a:prstGeom>
          <a:solidFill>
            <a:srgbClr val="FFFFFF"/>
          </a:solidFill>
          <a:ln w="9525">
            <a:solidFill>
              <a:srgbClr val="E3E9EE"/>
            </a:solidFill>
            <a:prstDash val="solid"/>
          </a:ln>
        </p:spPr>
      </p:sp>
      <p:sp>
        <p:nvSpPr>
          <p:cNvPr id="20" name="Shape 18"/>
          <p:cNvSpPr/>
          <p:nvPr/>
        </p:nvSpPr>
        <p:spPr>
          <a:xfrm>
            <a:off x="10957255" y="4512564"/>
            <a:ext cx="502920" cy="502920"/>
          </a:xfrm>
          <a:prstGeom prst="ellipse">
            <a:avLst/>
          </a:prstGeom>
          <a:solidFill>
            <a:srgbClr val="213E71"/>
          </a:solidFill>
          <a:ln w="12700">
            <a:solidFill>
              <a:srgbClr val="213E71"/>
            </a:solidFill>
            <a:prstDash val="solid"/>
          </a:ln>
        </p:spPr>
      </p:sp>
      <p:sp>
        <p:nvSpPr>
          <p:cNvPr id="21" name="Text 19"/>
          <p:cNvSpPr txBox="1"/>
          <p:nvPr/>
        </p:nvSpPr>
        <p:spPr>
          <a:xfrm>
            <a:off x="10957255" y="4512564"/>
            <a:ext cx="502920" cy="502920"/>
          </a:xfrm>
          <a:prstGeom prst="rect">
            <a:avLst/>
          </a:prstGeom>
          <a:noFill/>
          <a:ln/>
        </p:spPr>
        <p:txBody>
          <a:bodyPr wrap="square" lIns="0" tIns="0" rIns="0" bIns="0" rtlCol="0" anchor="ctr"/>
          <a:lstStyle/>
          <a:p>
            <a:pPr rtl="1" algn="ctr" indent="0" marL="0">
              <a:buNone/>
            </a:pPr>
            <a:r>
              <a:rPr lang="ar-SA" altLang="en-US" sz="1600" b="1" dirty="0">
                <a:solidFill>
                  <a:srgbClr val="FFFFFF"/>
                </a:solidFill>
                <a:latin typeface="Arial" pitchFamily="34" charset="0"/>
                <a:ea typeface="Arial" pitchFamily="34" charset="-122"/>
                <a:cs typeface="Arial" pitchFamily="34" charset="-120"/>
              </a:rPr>
              <a:t>4</a:t>
            </a:r>
            <a:endParaRPr lang="ar-SA" sz="1600" dirty="0"/>
          </a:p>
        </p:txBody>
      </p:sp>
      <p:sp>
        <p:nvSpPr>
          <p:cNvPr id="22" name="Text 20"/>
          <p:cNvSpPr txBox="1"/>
          <p:nvPr/>
        </p:nvSpPr>
        <p:spPr>
          <a:xfrm>
            <a:off x="731520" y="4462272"/>
            <a:ext cx="9997135" cy="347472"/>
          </a:xfrm>
          <a:prstGeom prst="rect">
            <a:avLst/>
          </a:prstGeom>
          <a:noFill/>
          <a:ln/>
        </p:spPr>
        <p:txBody>
          <a:bodyPr wrap="square" lIns="0" tIns="0" rIns="0" bIns="0" rtlCol="0" anchor="ctr"/>
          <a:lstStyle/>
          <a:p>
            <a:pPr rtl="1" algn="r" indent="0" marL="0">
              <a:buNone/>
            </a:pPr>
            <a:r>
              <a:rPr lang="ar-SA" altLang="en-US" sz="1400" b="1" dirty="0">
                <a:solidFill>
                  <a:srgbClr val="213E71"/>
                </a:solidFill>
                <a:latin typeface="Arial" pitchFamily="34" charset="0"/>
                <a:ea typeface="Arial" pitchFamily="34" charset="-122"/>
                <a:cs typeface="Arial" pitchFamily="34" charset="-120"/>
              </a:rPr>
              <a:t>ربط المستخدمين بمن فوقهم</a:t>
            </a:r>
            <a:endParaRPr lang="ar-SA" sz="1400" dirty="0"/>
          </a:p>
        </p:txBody>
      </p:sp>
      <p:sp>
        <p:nvSpPr>
          <p:cNvPr id="23" name="Text 21"/>
          <p:cNvSpPr txBox="1"/>
          <p:nvPr/>
        </p:nvSpPr>
        <p:spPr>
          <a:xfrm>
            <a:off x="731520" y="4791456"/>
            <a:ext cx="9997135" cy="310896"/>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كل مساعد إشراف بمسؤول الإشراف، وكل مسؤول بمسؤول المنطقة، وهكذا حتى مدير العمليات</a:t>
            </a:r>
            <a:endParaRPr lang="ar-SA" sz="1100" dirty="0"/>
          </a:p>
        </p:txBody>
      </p:sp>
      <p:sp>
        <p:nvSpPr>
          <p:cNvPr id="24" name="Shape 22"/>
          <p:cNvSpPr/>
          <p:nvPr/>
        </p:nvSpPr>
        <p:spPr>
          <a:xfrm>
            <a:off x="548640" y="5257800"/>
            <a:ext cx="11094415" cy="749808"/>
          </a:xfrm>
          <a:prstGeom prst="roundRect">
            <a:avLst>
              <a:gd name="adj" fmla="val 14634"/>
            </a:avLst>
          </a:prstGeom>
          <a:solidFill>
            <a:srgbClr val="F8FAFC"/>
          </a:solidFill>
          <a:ln w="9525">
            <a:solidFill>
              <a:srgbClr val="E3E9EE"/>
            </a:solidFill>
            <a:prstDash val="solid"/>
          </a:ln>
        </p:spPr>
      </p:sp>
      <p:sp>
        <p:nvSpPr>
          <p:cNvPr id="25" name="Shape 23"/>
          <p:cNvSpPr/>
          <p:nvPr/>
        </p:nvSpPr>
        <p:spPr>
          <a:xfrm>
            <a:off x="10957255" y="5381244"/>
            <a:ext cx="502920" cy="502920"/>
          </a:xfrm>
          <a:prstGeom prst="ellipse">
            <a:avLst/>
          </a:prstGeom>
          <a:solidFill>
            <a:srgbClr val="213E71"/>
          </a:solidFill>
          <a:ln w="12700">
            <a:solidFill>
              <a:srgbClr val="213E71"/>
            </a:solidFill>
            <a:prstDash val="solid"/>
          </a:ln>
        </p:spPr>
      </p:sp>
      <p:sp>
        <p:nvSpPr>
          <p:cNvPr id="26" name="Text 24"/>
          <p:cNvSpPr txBox="1"/>
          <p:nvPr/>
        </p:nvSpPr>
        <p:spPr>
          <a:xfrm>
            <a:off x="10957255" y="5381244"/>
            <a:ext cx="502920" cy="502920"/>
          </a:xfrm>
          <a:prstGeom prst="rect">
            <a:avLst/>
          </a:prstGeom>
          <a:noFill/>
          <a:ln/>
        </p:spPr>
        <p:txBody>
          <a:bodyPr wrap="square" lIns="0" tIns="0" rIns="0" bIns="0" rtlCol="0" anchor="ctr"/>
          <a:lstStyle/>
          <a:p>
            <a:pPr rtl="1" algn="ctr" indent="0" marL="0">
              <a:buNone/>
            </a:pPr>
            <a:r>
              <a:rPr lang="ar-SA" altLang="en-US" sz="1600" b="1" dirty="0">
                <a:solidFill>
                  <a:srgbClr val="FFFFFF"/>
                </a:solidFill>
                <a:latin typeface="Arial" pitchFamily="34" charset="0"/>
                <a:ea typeface="Arial" pitchFamily="34" charset="-122"/>
                <a:cs typeface="Arial" pitchFamily="34" charset="-120"/>
              </a:rPr>
              <a:t>5</a:t>
            </a:r>
            <a:endParaRPr lang="ar-SA" sz="1600" dirty="0"/>
          </a:p>
        </p:txBody>
      </p:sp>
      <p:sp>
        <p:nvSpPr>
          <p:cNvPr id="27" name="Text 25"/>
          <p:cNvSpPr txBox="1"/>
          <p:nvPr/>
        </p:nvSpPr>
        <p:spPr>
          <a:xfrm>
            <a:off x="731520" y="5330952"/>
            <a:ext cx="9997135" cy="347472"/>
          </a:xfrm>
          <a:prstGeom prst="rect">
            <a:avLst/>
          </a:prstGeom>
          <a:noFill/>
          <a:ln/>
        </p:spPr>
        <p:txBody>
          <a:bodyPr wrap="square" lIns="0" tIns="0" rIns="0" bIns="0" rtlCol="0" anchor="ctr"/>
          <a:lstStyle/>
          <a:p>
            <a:pPr rtl="1" algn="r" indent="0" marL="0">
              <a:buNone/>
            </a:pPr>
            <a:r>
              <a:rPr lang="ar-SA" altLang="en-US" sz="1400" b="1" dirty="0">
                <a:solidFill>
                  <a:srgbClr val="213E71"/>
                </a:solidFill>
                <a:latin typeface="Arial" pitchFamily="34" charset="0"/>
                <a:ea typeface="Arial" pitchFamily="34" charset="-122"/>
                <a:cs typeface="Arial" pitchFamily="34" charset="-120"/>
              </a:rPr>
              <a:t>يُسند كل مساعد إشراف محطات مشرفيه</a:t>
            </a:r>
            <a:endParaRPr lang="ar-SA" sz="1400" dirty="0"/>
          </a:p>
        </p:txBody>
      </p:sp>
      <p:sp>
        <p:nvSpPr>
          <p:cNvPr id="28" name="Text 26"/>
          <p:cNvSpPr txBox="1"/>
          <p:nvPr/>
        </p:nvSpPr>
        <p:spPr>
          <a:xfrm>
            <a:off x="731520" y="5660136"/>
            <a:ext cx="9997135" cy="310896"/>
          </a:xfrm>
          <a:prstGeom prst="rect">
            <a:avLst/>
          </a:prstGeom>
          <a:noFill/>
          <a:ln/>
        </p:spPr>
        <p:txBody>
          <a:bodyPr wrap="square" lIns="0" tIns="0" rIns="0" bIns="0" rtlCol="0" anchor="ctr"/>
          <a:lstStyle/>
          <a:p>
            <a:pPr rtl="1" algn="r" indent="0" marL="0">
              <a:buNone/>
            </a:pPr>
            <a:r>
              <a:rPr lang="ar-SA" altLang="en-US" sz="1100" dirty="0">
                <a:solidFill>
                  <a:srgbClr val="66788A"/>
                </a:solidFill>
                <a:latin typeface="Arial" pitchFamily="34" charset="0"/>
                <a:ea typeface="Arial" pitchFamily="34" charset="-122"/>
                <a:cs typeface="Arial" pitchFamily="34" charset="-120"/>
              </a:rPr>
              <a:t>من صفحة «إسناد المحطات» — وبهذا تكتمل الشجرة ويبدأ المشرفون الزيارات</a:t>
            </a:r>
            <a:endParaRPr lang="ar-SA" sz="1100" dirty="0"/>
          </a:p>
        </p:txBody>
      </p:sp>
      <p:sp>
        <p:nvSpPr>
          <p:cNvPr id="29" name="Text 27"/>
          <p:cNvSpPr txBox="1"/>
          <p:nvPr/>
        </p:nvSpPr>
        <p:spPr>
          <a:xfrm>
            <a:off x="548640" y="6400800"/>
            <a:ext cx="5486400" cy="274320"/>
          </a:xfrm>
          <a:prstGeom prst="rect">
            <a:avLst/>
          </a:prstGeom>
          <a:noFill/>
          <a:ln/>
        </p:spPr>
        <p:txBody>
          <a:bodyPr wrap="square" lIns="0" tIns="0" rIns="0" bIns="0" rtlCol="0" anchor="ctr"/>
          <a:lstStyle/>
          <a:p>
            <a:pPr rtl="1" algn="r" indent="0" marL="0">
              <a:buNone/>
            </a:pPr>
            <a:r>
              <a:rPr lang="ar-SA" altLang="en-US" sz="1000" dirty="0">
                <a:solidFill>
                  <a:srgbClr val="98A6B3"/>
                </a:solidFill>
                <a:latin typeface="Arial" pitchFamily="34" charset="0"/>
                <a:ea typeface="Arial" pitchFamily="34" charset="-122"/>
                <a:cs typeface="Arial" pitchFamily="34" charset="-120"/>
              </a:rPr>
              <a:t>منصة الرقابة والزيارات الميدانية · شركة الدريس</a:t>
            </a:r>
            <a:endParaRPr lang="ar-SA" sz="1000" dirty="0"/>
          </a:p>
        </p:txBody>
      </p:sp>
      <p:sp>
        <p:nvSpPr>
          <p:cNvPr id="30" name="Text 28"/>
          <p:cNvSpPr txBox="1"/>
          <p:nvPr/>
        </p:nvSpPr>
        <p:spPr>
          <a:xfrm>
            <a:off x="11094415" y="6400800"/>
            <a:ext cx="548640" cy="274320"/>
          </a:xfrm>
          <a:prstGeom prst="rect">
            <a:avLst/>
          </a:prstGeom>
          <a:noFill/>
          <a:ln/>
        </p:spPr>
        <p:txBody>
          <a:bodyPr wrap="square" lIns="0" tIns="0" rIns="0" bIns="0" rtlCol="0" anchor="ctr"/>
          <a:lstStyle/>
          <a:p>
            <a:pPr rtl="1" algn="l" indent="0" marL="0">
              <a:buNone/>
            </a:pPr>
            <a:r>
              <a:rPr lang="ar-SA" altLang="en-US" sz="1000" dirty="0">
                <a:solidFill>
                  <a:srgbClr val="98A6B3"/>
                </a:solidFill>
                <a:latin typeface="Arial" pitchFamily="34" charset="0"/>
                <a:ea typeface="Arial" pitchFamily="34" charset="-122"/>
                <a:cs typeface="Arial" pitchFamily="34" charset="-120"/>
              </a:rPr>
              <a:t>12</a:t>
            </a:r>
            <a:endParaRPr lang="ar-SA"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3E71"/>
        </a:solidFill>
      </p:bgPr>
    </p:bg>
    <p:spTree>
      <p:nvGrpSpPr>
        <p:cNvPr id="1" name=""/>
        <p:cNvGrpSpPr/>
        <p:nvPr/>
      </p:nvGrpSpPr>
      <p:grpSpPr>
        <a:xfrm>
          <a:off x="0" y="0"/>
          <a:ext cx="0" cy="0"/>
          <a:chOff x="0" y="0"/>
          <a:chExt cx="0" cy="0"/>
        </a:xfrm>
      </p:grpSpPr>
      <p:sp>
        <p:nvSpPr>
          <p:cNvPr id="2" name="Shape 0"/>
          <p:cNvSpPr/>
          <p:nvPr/>
        </p:nvSpPr>
        <p:spPr>
          <a:xfrm>
            <a:off x="8686800" y="3474720"/>
            <a:ext cx="5943600" cy="5943600"/>
          </a:xfrm>
          <a:prstGeom prst="ellipse">
            <a:avLst/>
          </a:prstGeom>
          <a:solidFill>
            <a:srgbClr val="1C5D9E"/>
          </a:solidFill>
          <a:ln w="12700">
            <a:solidFill>
              <a:srgbClr val="1C5D9E"/>
            </a:solidFill>
            <a:prstDash val="solid"/>
          </a:ln>
        </p:spPr>
      </p:sp>
      <p:sp>
        <p:nvSpPr>
          <p:cNvPr id="3" name="Text 1"/>
          <p:cNvSpPr txBox="1"/>
          <p:nvPr/>
        </p:nvSpPr>
        <p:spPr>
          <a:xfrm>
            <a:off x="822960" y="1097280"/>
            <a:ext cx="10545775" cy="640080"/>
          </a:xfrm>
          <a:prstGeom prst="rect">
            <a:avLst/>
          </a:prstGeom>
          <a:noFill/>
          <a:ln/>
        </p:spPr>
        <p:txBody>
          <a:bodyPr wrap="square" lIns="0" tIns="0" rIns="0" bIns="0" rtlCol="0" anchor="ctr"/>
          <a:lstStyle/>
          <a:p>
            <a:pPr rtl="1" algn="r" indent="0" marL="0">
              <a:buNone/>
            </a:pPr>
            <a:r>
              <a:rPr lang="ar-SA" altLang="en-US" sz="3400" b="1" dirty="0">
                <a:solidFill>
                  <a:srgbClr val="FFFFFF"/>
                </a:solidFill>
                <a:latin typeface="Arial" pitchFamily="34" charset="0"/>
                <a:ea typeface="Arial" pitchFamily="34" charset="-122"/>
                <a:cs typeface="Arial" pitchFamily="34" charset="-120"/>
              </a:rPr>
              <a:t>الخلاصة</a:t>
            </a:r>
            <a:endParaRPr lang="ar-SA" sz="3400" dirty="0"/>
          </a:p>
        </p:txBody>
      </p:sp>
      <p:sp>
        <p:nvSpPr>
          <p:cNvPr id="4" name="Text 2"/>
          <p:cNvSpPr txBox="1"/>
          <p:nvPr/>
        </p:nvSpPr>
        <p:spPr>
          <a:xfrm>
            <a:off x="822960" y="1965960"/>
            <a:ext cx="7345375" cy="3291840"/>
          </a:xfrm>
          <a:prstGeom prst="rect">
            <a:avLst/>
          </a:prstGeom>
          <a:noFill/>
          <a:ln/>
        </p:spPr>
        <p:txBody>
          <a:bodyPr wrap="square" lIns="0" tIns="0" rIns="0" bIns="0" rtlCol="0" anchor="t"/>
          <a:lstStyle/>
          <a:p>
            <a:pPr rtl="1" algn="r" marL="342900" indent="-342900">
              <a:lnSpc>
                <a:spcPct val="120000"/>
              </a:lnSpc>
              <a:spcAft>
                <a:spcPts val="1000"/>
              </a:spcAft>
              <a:buSzPct val="100000"/>
              <a:buChar char="•"/>
            </a:pPr>
            <a:r>
              <a:rPr lang="ar-SA" altLang="en-US" sz="1700" dirty="0">
                <a:solidFill>
                  <a:srgbClr val="E6EEF8"/>
                </a:solidFill>
                <a:latin typeface="Arial" pitchFamily="34" charset="0"/>
                <a:ea typeface="Arial" pitchFamily="34" charset="-122"/>
                <a:cs typeface="Arial" pitchFamily="34" charset="-120"/>
              </a:rPr>
              <a:t>المشرف يرى محطاته فقط ويزورها بقائمة تحقق موثّقة.</a:t>
            </a:r>
            <a:endParaRPr lang="ar-SA" sz="1700" dirty="0"/>
          </a:p>
          <a:p>
            <a:pPr rtl="1" algn="r" marL="342900" indent="-342900">
              <a:lnSpc>
                <a:spcPct val="120000"/>
              </a:lnSpc>
              <a:spcAft>
                <a:spcPts val="1000"/>
              </a:spcAft>
              <a:buSzPct val="100000"/>
              <a:buChar char="•"/>
            </a:pPr>
            <a:r>
              <a:rPr lang="ar-SA" altLang="en-US" sz="1700" dirty="0">
                <a:solidFill>
                  <a:srgbClr val="E6EEF8"/>
                </a:solidFill>
                <a:latin typeface="Arial" pitchFamily="34" charset="0"/>
                <a:ea typeface="Arial" pitchFamily="34" charset="-122"/>
                <a:cs typeface="Arial" pitchFamily="34" charset="-120"/>
              </a:rPr>
              <a:t>مساعد الإشراف يسند المحطات ويعتمد الزيارات — جهة واحدة.</a:t>
            </a:r>
            <a:endParaRPr lang="ar-SA" sz="1700" dirty="0"/>
          </a:p>
          <a:p>
            <a:pPr rtl="1" algn="r" marL="342900" indent="-342900">
              <a:lnSpc>
                <a:spcPct val="120000"/>
              </a:lnSpc>
              <a:spcAft>
                <a:spcPts val="1000"/>
              </a:spcAft>
              <a:buSzPct val="100000"/>
              <a:buChar char="•"/>
            </a:pPr>
            <a:r>
              <a:rPr lang="ar-SA" altLang="en-US" sz="1700" dirty="0">
                <a:solidFill>
                  <a:srgbClr val="E6EEF8"/>
                </a:solidFill>
                <a:latin typeface="Arial" pitchFamily="34" charset="0"/>
                <a:ea typeface="Arial" pitchFamily="34" charset="-122"/>
                <a:cs typeface="Arial" pitchFamily="34" charset="-120"/>
              </a:rPr>
              <a:t>كل ملاحظة لها مهلة وتذكير وتصعيد تلقائي حتى تُغلق.</a:t>
            </a:r>
            <a:endParaRPr lang="ar-SA" sz="1700" dirty="0"/>
          </a:p>
          <a:p>
            <a:pPr rtl="1" algn="r" marL="342900" indent="-342900">
              <a:lnSpc>
                <a:spcPct val="120000"/>
              </a:lnSpc>
              <a:spcAft>
                <a:spcPts val="1000"/>
              </a:spcAft>
              <a:buSzPct val="100000"/>
              <a:buChar char="•"/>
            </a:pPr>
            <a:r>
              <a:rPr lang="ar-SA" altLang="en-US" sz="1700" dirty="0">
                <a:solidFill>
                  <a:srgbClr val="E6EEF8"/>
                </a:solidFill>
                <a:latin typeface="Arial" pitchFamily="34" charset="0"/>
                <a:ea typeface="Arial" pitchFamily="34" charset="-122"/>
                <a:cs typeface="Arial" pitchFamily="34" charset="-120"/>
              </a:rPr>
              <a:t>كل مستوى إداري يرى فريقه وأرقامه، ومدير العمليات يرى الكل.</a:t>
            </a:r>
            <a:endParaRPr lang="ar-SA" sz="1700" dirty="0"/>
          </a:p>
          <a:p>
            <a:pPr rtl="1" algn="r" marL="342900" indent="-342900">
              <a:lnSpc>
                <a:spcPct val="120000"/>
              </a:lnSpc>
              <a:spcAft>
                <a:spcPts val="1000"/>
              </a:spcAft>
              <a:buSzPct val="100000"/>
              <a:buChar char="•"/>
            </a:pPr>
            <a:r>
              <a:rPr lang="ar-SA" altLang="en-US" sz="1700" dirty="0">
                <a:solidFill>
                  <a:srgbClr val="E6EEF8"/>
                </a:solidFill>
                <a:latin typeface="Arial" pitchFamily="34" charset="0"/>
                <a:ea typeface="Arial" pitchFamily="34" charset="-122"/>
                <a:cs typeface="Arial" pitchFamily="34" charset="-120"/>
              </a:rPr>
              <a:t>لا شيء يمر بصمت: إشعار لكل حدث يفتح ما يخصه.</a:t>
            </a:r>
            <a:endParaRPr lang="ar-SA" sz="1700" dirty="0"/>
          </a:p>
        </p:txBody>
      </p:sp>
      <p:pic>
        <p:nvPicPr>
          <p:cNvPr id="5" name="Image 0" descr="preencoded.png">    </p:cNvPr>
          <p:cNvPicPr>
            <a:picLocks noChangeAspect="1"/>
          </p:cNvPicPr>
          <p:nvPr/>
        </p:nvPicPr>
        <p:blipFill>
          <a:blip r:embed="rId1"/>
          <a:stretch>
            <a:fillRect/>
          </a:stretch>
        </p:blipFill>
        <p:spPr>
          <a:xfrm>
            <a:off x="9357055" y="2194560"/>
            <a:ext cx="1828800" cy="1828800"/>
          </a:xfrm>
          <a:prstGeom prst="rect">
            <a:avLst/>
          </a:prstGeom>
        </p:spPr>
      </p:pic>
      <p:sp>
        <p:nvSpPr>
          <p:cNvPr id="6" name="Text 3"/>
          <p:cNvSpPr txBox="1"/>
          <p:nvPr/>
        </p:nvSpPr>
        <p:spPr>
          <a:xfrm>
            <a:off x="822960" y="5943600"/>
            <a:ext cx="10545775" cy="365760"/>
          </a:xfrm>
          <a:prstGeom prst="rect">
            <a:avLst/>
          </a:prstGeom>
          <a:noFill/>
          <a:ln/>
        </p:spPr>
        <p:txBody>
          <a:bodyPr wrap="square" lIns="0" tIns="0" rIns="0" bIns="0" rtlCol="0" anchor="t"/>
          <a:lstStyle/>
          <a:p>
            <a:pPr rtl="1" algn="r" indent="0" marL="0">
              <a:buNone/>
            </a:pPr>
            <a:r>
              <a:rPr lang="ar-SA" altLang="en-US" sz="1200" dirty="0">
                <a:solidFill>
                  <a:srgbClr val="8FA8CC"/>
                </a:solidFill>
                <a:latin typeface="Arial" pitchFamily="34" charset="0"/>
                <a:ea typeface="Arial" pitchFamily="34" charset="-122"/>
                <a:cs typeface="Arial" pitchFamily="34" charset="-120"/>
              </a:rPr>
              <a:t>نظام داخلي — شركة الدريس للخدمات البترولية والنقليات</a:t>
            </a:r>
            <a:endParaRPr lang="ar-SA"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منصة الرقابة والزيارات الميدانية</dc:title>
  <dc:subject>PptxGenJS Presentation</dc:subject>
  <dc:creator>شركة الدريس</dc:creator>
  <cp:lastModifiedBy>شركة الدريس</cp:lastModifiedBy>
  <cp:revision>1</cp:revision>
  <dcterms:created xsi:type="dcterms:W3CDTF">2026-09-10T07:59:50Z</dcterms:created>
  <dcterms:modified xsi:type="dcterms:W3CDTF">2026-09-10T07:59:50Z</dcterms:modified>
</cp:coreProperties>
</file>